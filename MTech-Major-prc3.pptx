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9" r:id="rId4"/>
    <p:sldId id="288" r:id="rId5"/>
    <p:sldId id="258" r:id="rId6"/>
    <p:sldId id="285" r:id="rId7"/>
    <p:sldId id="289" r:id="rId8"/>
    <p:sldId id="299" r:id="rId9"/>
    <p:sldId id="281" r:id="rId10"/>
    <p:sldId id="300" r:id="rId11"/>
    <p:sldId id="301" r:id="rId12"/>
    <p:sldId id="302" r:id="rId13"/>
    <p:sldId id="304" r:id="rId14"/>
    <p:sldId id="305" r:id="rId15"/>
    <p:sldId id="308" r:id="rId16"/>
    <p:sldId id="306" r:id="rId17"/>
    <p:sldId id="307" r:id="rId18"/>
    <p:sldId id="309" r:id="rId19"/>
    <p:sldId id="310" r:id="rId20"/>
    <p:sldId id="290" r:id="rId21"/>
    <p:sldId id="312" r:id="rId22"/>
    <p:sldId id="313" r:id="rId23"/>
    <p:sldId id="314" r:id="rId24"/>
    <p:sldId id="315" r:id="rId25"/>
    <p:sldId id="316" r:id="rId26"/>
    <p:sldId id="323" r:id="rId27"/>
    <p:sldId id="320" r:id="rId28"/>
    <p:sldId id="321" r:id="rId29"/>
    <p:sldId id="324" r:id="rId30"/>
    <p:sldId id="303" r:id="rId31"/>
    <p:sldId id="325" r:id="rId32"/>
    <p:sldId id="262" r:id="rId33"/>
    <p:sldId id="282"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29" autoAdjust="0"/>
    <p:restoredTop sz="94660"/>
  </p:normalViewPr>
  <p:slideViewPr>
    <p:cSldViewPr snapToGrid="0">
      <p:cViewPr varScale="1">
        <p:scale>
          <a:sx n="67" d="100"/>
          <a:sy n="67" d="100"/>
        </p:scale>
        <p:origin x="65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endra Kumar" userId="3cdb50cef917c933" providerId="LiveId" clId="{A50DE999-99F9-494D-AC9C-A796F1B964A9}"/>
    <pc:docChg chg="custSel addSld modSld">
      <pc:chgData name="Narendra Kumar" userId="3cdb50cef917c933" providerId="LiveId" clId="{A50DE999-99F9-494D-AC9C-A796F1B964A9}" dt="2023-12-15T03:06:29.127" v="678" actId="20577"/>
      <pc:docMkLst>
        <pc:docMk/>
      </pc:docMkLst>
      <pc:sldChg chg="modSp mod">
        <pc:chgData name="Narendra Kumar" userId="3cdb50cef917c933" providerId="LiveId" clId="{A50DE999-99F9-494D-AC9C-A796F1B964A9}" dt="2023-12-15T03:06:29.127" v="678" actId="20577"/>
        <pc:sldMkLst>
          <pc:docMk/>
          <pc:sldMk cId="1551882465" sldId="256"/>
        </pc:sldMkLst>
        <pc:spChg chg="mod">
          <ac:chgData name="Narendra Kumar" userId="3cdb50cef917c933" providerId="LiveId" clId="{A50DE999-99F9-494D-AC9C-A796F1B964A9}" dt="2023-12-15T03:06:29.127" v="678" actId="20577"/>
          <ac:spMkLst>
            <pc:docMk/>
            <pc:sldMk cId="1551882465" sldId="256"/>
            <ac:spMk id="3" creationId="{00000000-0000-0000-0000-000000000000}"/>
          </ac:spMkLst>
        </pc:spChg>
      </pc:sldChg>
      <pc:sldChg chg="modSp mod">
        <pc:chgData name="Narendra Kumar" userId="3cdb50cef917c933" providerId="LiveId" clId="{A50DE999-99F9-494D-AC9C-A796F1B964A9}" dt="2023-12-15T01:39:30.422" v="662" actId="255"/>
        <pc:sldMkLst>
          <pc:docMk/>
          <pc:sldMk cId="2895841927" sldId="257"/>
        </pc:sldMkLst>
        <pc:spChg chg="mod">
          <ac:chgData name="Narendra Kumar" userId="3cdb50cef917c933" providerId="LiveId" clId="{A50DE999-99F9-494D-AC9C-A796F1B964A9}" dt="2023-12-15T01:39:30.422" v="662" actId="255"/>
          <ac:spMkLst>
            <pc:docMk/>
            <pc:sldMk cId="2895841927" sldId="257"/>
            <ac:spMk id="3" creationId="{00000000-0000-0000-0000-000000000000}"/>
          </ac:spMkLst>
        </pc:spChg>
      </pc:sldChg>
      <pc:sldChg chg="modSp mod">
        <pc:chgData name="Narendra Kumar" userId="3cdb50cef917c933" providerId="LiveId" clId="{A50DE999-99F9-494D-AC9C-A796F1B964A9}" dt="2023-12-15T01:17:07.779" v="31" actId="20577"/>
        <pc:sldMkLst>
          <pc:docMk/>
          <pc:sldMk cId="563292686" sldId="259"/>
        </pc:sldMkLst>
        <pc:spChg chg="mod">
          <ac:chgData name="Narendra Kumar" userId="3cdb50cef917c933" providerId="LiveId" clId="{A50DE999-99F9-494D-AC9C-A796F1B964A9}" dt="2023-12-15T01:17:07.779" v="31" actId="20577"/>
          <ac:spMkLst>
            <pc:docMk/>
            <pc:sldMk cId="563292686" sldId="259"/>
            <ac:spMk id="3" creationId="{00000000-0000-0000-0000-000000000000}"/>
          </ac:spMkLst>
        </pc:spChg>
      </pc:sldChg>
      <pc:sldChg chg="modSp add mod">
        <pc:chgData name="Narendra Kumar" userId="3cdb50cef917c933" providerId="LiveId" clId="{A50DE999-99F9-494D-AC9C-A796F1B964A9}" dt="2023-12-15T01:54:14.278" v="674" actId="20577"/>
        <pc:sldMkLst>
          <pc:docMk/>
          <pc:sldMk cId="159379964" sldId="261"/>
        </pc:sldMkLst>
        <pc:spChg chg="mod">
          <ac:chgData name="Narendra Kumar" userId="3cdb50cef917c933" providerId="LiveId" clId="{A50DE999-99F9-494D-AC9C-A796F1B964A9}" dt="2023-12-15T01:24:41.408" v="131" actId="20577"/>
          <ac:spMkLst>
            <pc:docMk/>
            <pc:sldMk cId="159379964" sldId="261"/>
            <ac:spMk id="2" creationId="{8CA11B6B-08FC-BB3B-60E8-78AEC511DDFE}"/>
          </ac:spMkLst>
        </pc:spChg>
        <pc:spChg chg="mod">
          <ac:chgData name="Narendra Kumar" userId="3cdb50cef917c933" providerId="LiveId" clId="{A50DE999-99F9-494D-AC9C-A796F1B964A9}" dt="2023-12-15T01:54:14.278" v="674" actId="20577"/>
          <ac:spMkLst>
            <pc:docMk/>
            <pc:sldMk cId="159379964" sldId="261"/>
            <ac:spMk id="3" creationId="{8C1FB080-A124-3F34-E386-FA13286B0B09}"/>
          </ac:spMkLst>
        </pc:spChg>
      </pc:sldChg>
      <pc:sldChg chg="modSp add mod">
        <pc:chgData name="Narendra Kumar" userId="3cdb50cef917c933" providerId="LiveId" clId="{A50DE999-99F9-494D-AC9C-A796F1B964A9}" dt="2023-12-15T01:37:37.495" v="633" actId="255"/>
        <pc:sldMkLst>
          <pc:docMk/>
          <pc:sldMk cId="698540212" sldId="262"/>
        </pc:sldMkLst>
        <pc:spChg chg="mod">
          <ac:chgData name="Narendra Kumar" userId="3cdb50cef917c933" providerId="LiveId" clId="{A50DE999-99F9-494D-AC9C-A796F1B964A9}" dt="2023-12-15T01:37:37.495" v="633" actId="255"/>
          <ac:spMkLst>
            <pc:docMk/>
            <pc:sldMk cId="698540212" sldId="262"/>
            <ac:spMk id="3" creationId="{FAB01492-DD5B-5465-131B-CB8CDAABCB22}"/>
          </ac:spMkLst>
        </pc:spChg>
      </pc:sldChg>
      <pc:sldChg chg="add">
        <pc:chgData name="Narendra Kumar" userId="3cdb50cef917c933" providerId="LiveId" clId="{A50DE999-99F9-494D-AC9C-A796F1B964A9}" dt="2023-12-15T01:15:09.084" v="24"/>
        <pc:sldMkLst>
          <pc:docMk/>
          <pc:sldMk cId="878315375" sldId="267"/>
        </pc:sldMkLst>
      </pc:sldChg>
      <pc:sldChg chg="add">
        <pc:chgData name="Narendra Kumar" userId="3cdb50cef917c933" providerId="LiveId" clId="{A50DE999-99F9-494D-AC9C-A796F1B964A9}" dt="2023-12-15T01:15:15.458" v="25"/>
        <pc:sldMkLst>
          <pc:docMk/>
          <pc:sldMk cId="2260763669" sldId="268"/>
        </pc:sldMkLst>
      </pc:sldChg>
      <pc:sldChg chg="add">
        <pc:chgData name="Narendra Kumar" userId="3cdb50cef917c933" providerId="LiveId" clId="{A50DE999-99F9-494D-AC9C-A796F1B964A9}" dt="2023-12-15T01:15:20.445" v="26"/>
        <pc:sldMkLst>
          <pc:docMk/>
          <pc:sldMk cId="3504042202" sldId="275"/>
        </pc:sldMkLst>
      </pc:sldChg>
      <pc:sldChg chg="add">
        <pc:chgData name="Narendra Kumar" userId="3cdb50cef917c933" providerId="LiveId" clId="{A50DE999-99F9-494D-AC9C-A796F1B964A9}" dt="2023-12-15T01:15:24.629" v="27"/>
        <pc:sldMkLst>
          <pc:docMk/>
          <pc:sldMk cId="2281977728" sldId="276"/>
        </pc:sldMkLst>
      </pc:sldChg>
      <pc:sldChg chg="modSp add mod">
        <pc:chgData name="Narendra Kumar" userId="3cdb50cef917c933" providerId="LiveId" clId="{A50DE999-99F9-494D-AC9C-A796F1B964A9}" dt="2023-12-15T01:53:51.966" v="668" actId="20577"/>
        <pc:sldMkLst>
          <pc:docMk/>
          <pc:sldMk cId="365915024" sldId="277"/>
        </pc:sldMkLst>
        <pc:spChg chg="mod">
          <ac:chgData name="Narendra Kumar" userId="3cdb50cef917c933" providerId="LiveId" clId="{A50DE999-99F9-494D-AC9C-A796F1B964A9}" dt="2023-12-15T01:53:51.966" v="668" actId="20577"/>
          <ac:spMkLst>
            <pc:docMk/>
            <pc:sldMk cId="365915024" sldId="277"/>
            <ac:spMk id="5" creationId="{50398762-7A8C-618B-975E-67AF454C287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7/15/2025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7/15/2025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7/15/2025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7/15/2025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7/15/2025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7/15/2025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7/15/2025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7/15/2025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7/15/2025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7/15/2025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1156" y="490211"/>
            <a:ext cx="10058400" cy="2162678"/>
          </a:xfrm>
        </p:spPr>
        <p:txBody>
          <a:bodyPr>
            <a:noAutofit/>
          </a:bodyPr>
          <a:lstStyle/>
          <a:p>
            <a:r>
              <a:rPr lang="en-IN" sz="4000" b="1" dirty="0">
                <a:latin typeface="Arial" panose="020B0604020202020204" pitchFamily="34" charset="0"/>
                <a:cs typeface="Arial" panose="020B0604020202020204" pitchFamily="34" charset="0"/>
              </a:rPr>
              <a:t>deep autoencoder - based DENOISING of Dynamic PET SCANS</a:t>
            </a:r>
          </a:p>
        </p:txBody>
      </p:sp>
      <p:sp>
        <p:nvSpPr>
          <p:cNvPr id="3" name="Subtitle 2"/>
          <p:cNvSpPr>
            <a:spLocks noGrp="1"/>
          </p:cNvSpPr>
          <p:nvPr>
            <p:ph type="subTitle" idx="1"/>
          </p:nvPr>
        </p:nvSpPr>
        <p:spPr>
          <a:xfrm>
            <a:off x="4317944" y="4526280"/>
            <a:ext cx="6801612" cy="1691640"/>
          </a:xfrm>
        </p:spPr>
        <p:txBody>
          <a:bodyPr>
            <a:normAutofit/>
          </a:bodyPr>
          <a:lstStyle/>
          <a:p>
            <a:r>
              <a:rPr lang="en-IN" sz="1800" dirty="0">
                <a:solidFill>
                  <a:schemeClr val="bg1">
                    <a:lumMod val="95000"/>
                    <a:lumOff val="5000"/>
                  </a:schemeClr>
                </a:solidFill>
                <a:latin typeface="Arial" panose="020B0604020202020204" pitchFamily="34" charset="0"/>
                <a:cs typeface="Arial" panose="020B0604020202020204" pitchFamily="34" charset="0"/>
              </a:rPr>
              <a:t>                 Submitted by :</a:t>
            </a:r>
          </a:p>
          <a:p>
            <a:pPr algn="r"/>
            <a:r>
              <a:rPr lang="en-IN" sz="1800" dirty="0">
                <a:solidFill>
                  <a:schemeClr val="bg1">
                    <a:lumMod val="95000"/>
                    <a:lumOff val="5000"/>
                  </a:schemeClr>
                </a:solidFill>
                <a:latin typeface="Arial" panose="020B0604020202020204" pitchFamily="34" charset="0"/>
                <a:cs typeface="Arial" panose="020B0604020202020204" pitchFamily="34" charset="0"/>
              </a:rPr>
              <a:t>M. Narendra Kumar (20011P0413)</a:t>
            </a:r>
          </a:p>
          <a:p>
            <a:pPr algn="r"/>
            <a:r>
              <a:rPr lang="en-IN" sz="1800" dirty="0">
                <a:solidFill>
                  <a:schemeClr val="bg1">
                    <a:lumMod val="95000"/>
                    <a:lumOff val="5000"/>
                  </a:schemeClr>
                </a:solidFill>
                <a:latin typeface="Arial" panose="020B0604020202020204" pitchFamily="34" charset="0"/>
                <a:cs typeface="Arial" panose="020B0604020202020204" pitchFamily="34" charset="0"/>
              </a:rPr>
              <a:t>ECE IDP – 5th YEAR (2020-2025)                 </a:t>
            </a:r>
          </a:p>
          <a:p>
            <a:pPr algn="r"/>
            <a:endParaRPr lang="en-IN" sz="1800" dirty="0">
              <a:solidFill>
                <a:schemeClr val="bg1">
                  <a:lumMod val="95000"/>
                  <a:lumOff val="5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7118887-3719-47FA-9D62-3EA6509BBB1D}"/>
              </a:ext>
            </a:extLst>
          </p:cNvPr>
          <p:cNvSpPr txBox="1"/>
          <p:nvPr/>
        </p:nvSpPr>
        <p:spPr>
          <a:xfrm>
            <a:off x="3181350" y="2943253"/>
            <a:ext cx="6315075" cy="923330"/>
          </a:xfrm>
          <a:prstGeom prst="rect">
            <a:avLst/>
          </a:prstGeom>
          <a:noFill/>
        </p:spPr>
        <p:txBody>
          <a:bodyPr wrap="square" rtlCol="0">
            <a:spAutoFit/>
          </a:bodyPr>
          <a:lstStyle/>
          <a:p>
            <a:r>
              <a:rPr lang="en-IN" b="1" dirty="0">
                <a:solidFill>
                  <a:schemeClr val="bg1">
                    <a:lumMod val="95000"/>
                    <a:lumOff val="5000"/>
                  </a:schemeClr>
                </a:solidFill>
                <a:latin typeface="Arial" panose="020B0604020202020204" pitchFamily="34" charset="0"/>
                <a:cs typeface="Arial" panose="020B0604020202020204" pitchFamily="34" charset="0"/>
              </a:rPr>
              <a:t>               Under the esteemed guidance of</a:t>
            </a:r>
          </a:p>
          <a:p>
            <a:r>
              <a:rPr lang="en-IN" b="1" dirty="0">
                <a:solidFill>
                  <a:schemeClr val="bg1">
                    <a:lumMod val="95000"/>
                    <a:lumOff val="5000"/>
                  </a:schemeClr>
                </a:solidFill>
                <a:latin typeface="Arial" panose="020B0604020202020204" pitchFamily="34" charset="0"/>
                <a:cs typeface="Arial" panose="020B0604020202020204" pitchFamily="34" charset="0"/>
              </a:rPr>
              <a:t> </a:t>
            </a:r>
          </a:p>
          <a:p>
            <a:r>
              <a:rPr lang="en-IN" b="1" dirty="0">
                <a:solidFill>
                  <a:schemeClr val="bg1">
                    <a:lumMod val="95000"/>
                    <a:lumOff val="5000"/>
                  </a:schemeClr>
                </a:solidFill>
                <a:latin typeface="Arial" panose="020B0604020202020204" pitchFamily="34" charset="0"/>
                <a:cs typeface="Arial" panose="020B0604020202020204" pitchFamily="34" charset="0"/>
              </a:rPr>
              <a:t>                        Dr. A. RAJANI MAM</a:t>
            </a:r>
            <a:endParaRPr lang="en-IN" dirty="0"/>
          </a:p>
        </p:txBody>
      </p:sp>
    </p:spTree>
    <p:extLst>
      <p:ext uri="{BB962C8B-B14F-4D97-AF65-F5344CB8AC3E}">
        <p14:creationId xmlns:p14="http://schemas.microsoft.com/office/powerpoint/2010/main" val="1551882465"/>
      </p:ext>
    </p:extLst>
  </p:cSld>
  <p:clrMapOvr>
    <a:masterClrMapping/>
  </p:clrMapOvr>
  <mc:AlternateContent xmlns:mc="http://schemas.openxmlformats.org/markup-compatibility/2006" xmlns:p14="http://schemas.microsoft.com/office/powerpoint/2010/main">
    <mc:Choice Requires="p14">
      <p:transition spd="slow" p14:dur="2000" advTm="1063"/>
    </mc:Choice>
    <mc:Fallback xmlns="">
      <p:transition spd="slow" advTm="10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377670"/>
            <a:ext cx="7729728" cy="1188720"/>
          </a:xfrm>
        </p:spPr>
        <p:txBody>
          <a:bodyPr>
            <a:normAutofit/>
          </a:bodyPr>
          <a:lstStyle/>
          <a:p>
            <a:r>
              <a:rPr lang="en-IN" sz="3400" b="1" dirty="0">
                <a:latin typeface="Arial" panose="020B0604020202020204" pitchFamily="34" charset="0"/>
                <a:cs typeface="Arial" panose="020B0604020202020204" pitchFamily="34" charset="0"/>
              </a:rPr>
              <a:t>TABLE OF CONTENTS</a:t>
            </a:r>
          </a:p>
        </p:txBody>
      </p:sp>
      <p:sp>
        <p:nvSpPr>
          <p:cNvPr id="3" name="Content Placeholder 2"/>
          <p:cNvSpPr>
            <a:spLocks noGrp="1"/>
          </p:cNvSpPr>
          <p:nvPr>
            <p:ph idx="1"/>
          </p:nvPr>
        </p:nvSpPr>
        <p:spPr>
          <a:xfrm>
            <a:off x="6572249" y="1994959"/>
            <a:ext cx="3388614" cy="4933244"/>
          </a:xfrm>
        </p:spPr>
        <p:txBody>
          <a:bodyPr>
            <a:normAutofit/>
          </a:bodyPr>
          <a:lstStyle/>
          <a:p>
            <a:r>
              <a:rPr lang="en-US" sz="2000" dirty="0">
                <a:latin typeface="Arial" panose="020B0604020202020204" pitchFamily="34" charset="0"/>
                <a:cs typeface="Arial" panose="020B0604020202020204" pitchFamily="34" charset="0"/>
              </a:rPr>
              <a:t>Workflow Process</a:t>
            </a:r>
          </a:p>
          <a:p>
            <a:r>
              <a:rPr lang="en-US" sz="2000" dirty="0">
                <a:latin typeface="Arial" panose="020B0604020202020204" pitchFamily="34" charset="0"/>
                <a:cs typeface="Arial" panose="020B0604020202020204" pitchFamily="34" charset="0"/>
              </a:rPr>
              <a:t>Noise Modeling</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Results</a:t>
            </a:r>
          </a:p>
          <a:p>
            <a:r>
              <a:rPr lang="en-US" sz="2000" dirty="0">
                <a:latin typeface="Arial" panose="020B0604020202020204" pitchFamily="34" charset="0"/>
                <a:cs typeface="Arial" panose="020B0604020202020204" pitchFamily="34" charset="0"/>
              </a:rPr>
              <a:t>S</a:t>
            </a:r>
            <a:r>
              <a:rPr lang="en-IN" sz="2000" dirty="0">
                <a:latin typeface="Arial" panose="020B0604020202020204" pitchFamily="34" charset="0"/>
                <a:cs typeface="Arial" panose="020B0604020202020204" pitchFamily="34" charset="0"/>
              </a:rPr>
              <a:t>lices View</a:t>
            </a:r>
          </a:p>
          <a:p>
            <a:r>
              <a:rPr lang="en-US" sz="2000" dirty="0">
                <a:latin typeface="Arial" panose="020B0604020202020204" pitchFamily="34" charset="0"/>
                <a:cs typeface="Arial" panose="020B0604020202020204" pitchFamily="34" charset="0"/>
              </a:rPr>
              <a:t>A</a:t>
            </a:r>
            <a:r>
              <a:rPr lang="en-IN" sz="2000" dirty="0">
                <a:latin typeface="Arial" panose="020B0604020202020204" pitchFamily="34" charset="0"/>
                <a:cs typeface="Arial" panose="020B0604020202020204" pitchFamily="34" charset="0"/>
              </a:rPr>
              <a:t>natomical Plane Views</a:t>
            </a:r>
          </a:p>
          <a:p>
            <a:r>
              <a:rPr lang="en-US" sz="2000" dirty="0">
                <a:latin typeface="Arial" panose="020B0604020202020204" pitchFamily="34" charset="0"/>
                <a:cs typeface="Arial" panose="020B0604020202020204" pitchFamily="34" charset="0"/>
              </a:rPr>
              <a:t>Evaluation Metrics</a:t>
            </a:r>
          </a:p>
          <a:p>
            <a:r>
              <a:rPr lang="en-US" sz="2000" dirty="0">
                <a:latin typeface="Arial" panose="020B0604020202020204" pitchFamily="34" charset="0"/>
                <a:cs typeface="Arial" panose="020B0604020202020204" pitchFamily="34" charset="0"/>
              </a:rPr>
              <a:t>Conclusion</a:t>
            </a:r>
            <a:endParaRPr lang="en-IN"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Future Scope</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References</a:t>
            </a:r>
          </a:p>
          <a:p>
            <a:endParaRPr lang="en-IN" dirty="0">
              <a:latin typeface="Arial" panose="020B0604020202020204" pitchFamily="34" charset="0"/>
              <a:cs typeface="Arial" panose="020B0604020202020204" pitchFamily="34" charset="0"/>
            </a:endParaRPr>
          </a:p>
          <a:p>
            <a:endParaRPr lang="en-IN" dirty="0"/>
          </a:p>
        </p:txBody>
      </p:sp>
      <p:sp>
        <p:nvSpPr>
          <p:cNvPr id="4" name="Content Placeholder 2">
            <a:extLst>
              <a:ext uri="{FF2B5EF4-FFF2-40B4-BE49-F238E27FC236}">
                <a16:creationId xmlns:a16="http://schemas.microsoft.com/office/drawing/2014/main" id="{9A8E1A94-4F72-43FF-91EC-2C944B5B42EB}"/>
              </a:ext>
            </a:extLst>
          </p:cNvPr>
          <p:cNvSpPr txBox="1">
            <a:spLocks/>
          </p:cNvSpPr>
          <p:nvPr/>
        </p:nvSpPr>
        <p:spPr>
          <a:xfrm>
            <a:off x="2231137" y="1994959"/>
            <a:ext cx="3388614" cy="493324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2000" dirty="0">
                <a:latin typeface="Arial" panose="020B0604020202020204" pitchFamily="34" charset="0"/>
                <a:cs typeface="Arial" panose="020B0604020202020204" pitchFamily="34" charset="0"/>
              </a:rPr>
              <a:t>I</a:t>
            </a:r>
            <a:r>
              <a:rPr lang="en-IN" sz="2000" dirty="0">
                <a:latin typeface="Arial" panose="020B0604020202020204" pitchFamily="34" charset="0"/>
                <a:cs typeface="Arial" panose="020B0604020202020204" pitchFamily="34" charset="0"/>
              </a:rPr>
              <a:t>ntroduction</a:t>
            </a:r>
          </a:p>
          <a:p>
            <a:r>
              <a:rPr lang="en-US" sz="2000" dirty="0">
                <a:latin typeface="Arial" panose="020B0604020202020204" pitchFamily="34" charset="0"/>
                <a:cs typeface="Arial" panose="020B0604020202020204" pitchFamily="34" charset="0"/>
              </a:rPr>
              <a:t>PET Scan</a:t>
            </a:r>
          </a:p>
          <a:p>
            <a:r>
              <a:rPr lang="en-US" sz="2000" dirty="0">
                <a:latin typeface="Arial" panose="020B0604020202020204" pitchFamily="34" charset="0"/>
                <a:cs typeface="Arial" panose="020B0604020202020204" pitchFamily="34" charset="0"/>
              </a:rPr>
              <a:t>Aim</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Objectives and Motivation</a:t>
            </a:r>
          </a:p>
          <a:p>
            <a:r>
              <a:rPr lang="en-US" sz="2000" dirty="0">
                <a:latin typeface="Arial" panose="020B0604020202020204" pitchFamily="34" charset="0"/>
                <a:cs typeface="Arial" panose="020B0604020202020204" pitchFamily="34" charset="0"/>
              </a:rPr>
              <a:t>D</a:t>
            </a:r>
            <a:r>
              <a:rPr lang="en-IN" sz="2000" dirty="0">
                <a:latin typeface="Arial" panose="020B0604020202020204" pitchFamily="34" charset="0"/>
                <a:cs typeface="Arial" panose="020B0604020202020204" pitchFamily="34" charset="0"/>
              </a:rPr>
              <a:t>ataset Overview</a:t>
            </a:r>
          </a:p>
          <a:p>
            <a:r>
              <a:rPr lang="en-IN" sz="2000" dirty="0">
                <a:latin typeface="Arial" panose="020B0604020202020204" pitchFamily="34" charset="0"/>
                <a:cs typeface="Arial" panose="020B0604020202020204" pitchFamily="34" charset="0"/>
              </a:rPr>
              <a:t>Block Diagram</a:t>
            </a:r>
          </a:p>
          <a:p>
            <a:r>
              <a:rPr lang="en-IN" sz="2000" dirty="0">
                <a:latin typeface="Arial" panose="020B0604020202020204" pitchFamily="34" charset="0"/>
                <a:cs typeface="Arial" panose="020B0604020202020204" pitchFamily="34" charset="0"/>
              </a:rPr>
              <a:t>Methodology</a:t>
            </a:r>
          </a:p>
          <a:p>
            <a:r>
              <a:rPr lang="en-US" sz="2000" dirty="0">
                <a:latin typeface="Arial" panose="020B0604020202020204" pitchFamily="34" charset="0"/>
                <a:cs typeface="Arial" panose="020B0604020202020204" pitchFamily="34" charset="0"/>
              </a:rPr>
              <a:t>DAE Architecture</a:t>
            </a:r>
            <a:endParaRPr lang="en-IN"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Dimensionality Flow</a:t>
            </a:r>
            <a:endParaRPr lang="en-IN" sz="20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2895841927"/>
      </p:ext>
    </p:extLst>
  </p:cSld>
  <p:clrMapOvr>
    <a:masterClrMapping/>
  </p:clrMapOvr>
  <mc:AlternateContent xmlns:mc="http://schemas.openxmlformats.org/markup-compatibility/2006" xmlns:p14="http://schemas.microsoft.com/office/powerpoint/2010/main">
    <mc:Choice Requires="p14">
      <p:transition spd="slow" p14:dur="2000" advTm="381"/>
    </mc:Choice>
    <mc:Fallback xmlns="">
      <p:transition spd="slow" advTm="38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479269"/>
            <a:ext cx="9365381" cy="1080024"/>
          </a:xfrm>
        </p:spPr>
        <p:txBody>
          <a:bodyPr>
            <a:normAutofit/>
          </a:bodyPr>
          <a:lstStyle/>
          <a:p>
            <a:r>
              <a:rPr lang="en-IN" sz="3600" b="1"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a:xfrm>
            <a:off x="1424539" y="1963554"/>
            <a:ext cx="9365381" cy="4504979"/>
          </a:xfrm>
        </p:spPr>
        <p:txBody>
          <a:bodyPr>
            <a:normAutofit lnSpcReduction="10000"/>
          </a:bodyPr>
          <a:lstStyle/>
          <a:p>
            <a:pPr algn="just">
              <a:lnSpc>
                <a:spcPct val="107000"/>
              </a:lnSpc>
              <a:spcAft>
                <a:spcPts val="800"/>
              </a:spcAft>
              <a:buFont typeface="Wingdings" panose="05000000000000000000" pitchFamily="2" charset="2"/>
              <a:buChar char="§"/>
            </a:pPr>
            <a:r>
              <a:rPr lang="en-US" kern="0" dirty="0">
                <a:latin typeface="Arial" panose="020B0604020202020204" pitchFamily="34" charset="0"/>
                <a:ea typeface="Times New Roman" panose="02020603050405020304" pitchFamily="18" charset="0"/>
                <a:cs typeface="Arial" panose="020B0604020202020204" pitchFamily="34" charset="0"/>
              </a:rPr>
              <a:t>PET scans use radioactive tracers, which expose patients to radiation. To reduce this risk, lower doses can be used—but that makes the images noisier and harder to interpret.</a:t>
            </a:r>
            <a:endParaRPr lang="en-GB" sz="1800" kern="0" dirty="0">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07000"/>
              </a:lnSpc>
              <a:spcAft>
                <a:spcPts val="800"/>
              </a:spcAft>
              <a:buFont typeface="Wingdings" panose="05000000000000000000" pitchFamily="2" charset="2"/>
              <a:buChar char="§"/>
            </a:pPr>
            <a:r>
              <a:rPr lang="en-US" kern="0" dirty="0">
                <a:latin typeface="Arial" panose="020B0604020202020204" pitchFamily="34" charset="0"/>
                <a:ea typeface="Times New Roman" panose="02020603050405020304" pitchFamily="18" charset="0"/>
                <a:cs typeface="Arial" panose="020B0604020202020204" pitchFamily="34" charset="0"/>
              </a:rPr>
              <a:t>Noise in these images can hide small tumors or important changes in the body, which are key for early diagnosis and treatment tracking.</a:t>
            </a:r>
          </a:p>
          <a:p>
            <a:pPr algn="just">
              <a:lnSpc>
                <a:spcPct val="107000"/>
              </a:lnSpc>
              <a:spcAft>
                <a:spcPts val="800"/>
              </a:spcAft>
              <a:buFont typeface="Wingdings" panose="05000000000000000000" pitchFamily="2" charset="2"/>
              <a:buChar char="§"/>
            </a:pPr>
            <a:r>
              <a:rPr lang="en-US" kern="0" dirty="0">
                <a:latin typeface="Arial" panose="020B0604020202020204" pitchFamily="34" charset="0"/>
                <a:ea typeface="Times New Roman" panose="02020603050405020304" pitchFamily="18" charset="0"/>
                <a:cs typeface="Arial" panose="020B0604020202020204" pitchFamily="34" charset="0"/>
              </a:rPr>
              <a:t>Effective denoising keeps the important details in the image while removing unwanted noise. This helps make results more reliable, especially in long-term studies or across different hospitals.</a:t>
            </a:r>
          </a:p>
          <a:p>
            <a:pPr algn="just">
              <a:lnSpc>
                <a:spcPct val="107000"/>
              </a:lnSpc>
              <a:spcAft>
                <a:spcPts val="800"/>
              </a:spcAft>
              <a:buFont typeface="Wingdings" panose="05000000000000000000" pitchFamily="2" charset="2"/>
              <a:buChar char="§"/>
            </a:pPr>
            <a:r>
              <a:rPr lang="en-US" kern="0" dirty="0">
                <a:latin typeface="Arial" panose="020B0604020202020204" pitchFamily="34" charset="0"/>
                <a:ea typeface="Times New Roman" panose="02020603050405020304" pitchFamily="18" charset="0"/>
                <a:cs typeface="Arial" panose="020B0604020202020204" pitchFamily="34" charset="0"/>
              </a:rPr>
              <a:t>Deep Autoencoders (DAEs) are great at removing noise while keeping important structure and function in the image, so doctors can trust the results.</a:t>
            </a:r>
          </a:p>
          <a:p>
            <a:pPr algn="just">
              <a:lnSpc>
                <a:spcPct val="107000"/>
              </a:lnSpc>
              <a:spcAft>
                <a:spcPts val="800"/>
              </a:spcAft>
              <a:buFont typeface="Wingdings" panose="05000000000000000000" pitchFamily="2" charset="2"/>
              <a:buChar char="§"/>
            </a:pPr>
            <a:r>
              <a:rPr lang="en-US" kern="0" dirty="0">
                <a:latin typeface="Arial" panose="020B0604020202020204" pitchFamily="34" charset="0"/>
                <a:ea typeface="Times New Roman" panose="02020603050405020304" pitchFamily="18" charset="0"/>
                <a:cs typeface="Arial" panose="020B0604020202020204" pitchFamily="34" charset="0"/>
              </a:rPr>
              <a:t>DAEs can also be trained specifically for the kind of noise found in PET scans (like Poisson noise), making them better than general denoising methods.</a:t>
            </a:r>
            <a:endParaRPr lang="en-IN" dirty="0">
              <a:latin typeface="Arial" panose="020B0604020202020204" pitchFamily="34" charset="0"/>
              <a:cs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563292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Autofit/>
          </a:bodyPr>
          <a:lstStyle/>
          <a:p>
            <a:r>
              <a:rPr lang="en-IN" sz="2600" b="1" dirty="0">
                <a:latin typeface="Arial" panose="020B0604020202020204" pitchFamily="34" charset="0"/>
                <a:cs typeface="Arial" panose="020B0604020202020204" pitchFamily="34" charset="0"/>
              </a:rPr>
              <a:t>positron emission tomography(PET) SCAN</a:t>
            </a:r>
          </a:p>
        </p:txBody>
      </p:sp>
      <p:sp>
        <p:nvSpPr>
          <p:cNvPr id="3" name="Content Placeholder 2"/>
          <p:cNvSpPr>
            <a:spLocks noGrp="1"/>
          </p:cNvSpPr>
          <p:nvPr>
            <p:ph idx="1"/>
          </p:nvPr>
        </p:nvSpPr>
        <p:spPr>
          <a:xfrm>
            <a:off x="3843890" y="1808146"/>
            <a:ext cx="7576586" cy="4230704"/>
          </a:xfrm>
        </p:spPr>
        <p:txBody>
          <a:bodyPr>
            <a:normAutofit/>
          </a:bodyPr>
          <a:lstStyle/>
          <a:p>
            <a:pPr marL="0" indent="0" algn="just">
              <a:buNone/>
            </a:pPr>
            <a:r>
              <a:rPr lang="en-US" b="1" dirty="0">
                <a:latin typeface="Arial" panose="020B0604020202020204" pitchFamily="34" charset="0"/>
                <a:cs typeface="Arial" panose="020B0604020202020204" pitchFamily="34" charset="0"/>
              </a:rPr>
              <a:t>How PET scans work:</a:t>
            </a:r>
          </a:p>
          <a:p>
            <a:pPr marL="0" indent="0" algn="just">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PET scans use a scanning device to detect photons emitted by a radioisotope in the body. The radioisotope emits a positron, which decimates with an electron to produce two high-energy photons.</a:t>
            </a:r>
          </a:p>
          <a:p>
            <a:pPr marL="0" indent="0" algn="just">
              <a:buNone/>
            </a:pPr>
            <a:r>
              <a:rPr lang="en-US" b="1" dirty="0">
                <a:latin typeface="Arial" panose="020B0604020202020204" pitchFamily="34" charset="0"/>
                <a:cs typeface="Arial" panose="020B0604020202020204" pitchFamily="34" charset="0"/>
              </a:rPr>
              <a:t>How the photons are detected:</a:t>
            </a:r>
          </a:p>
          <a:p>
            <a:pPr marL="0" indent="0" algn="just">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PET scanners use detectors to detect the photons. The detectors are made up of multiple layers of crystals, which convert the photons into visible light photons. This produces an electrical current pulse that is amplified.</a:t>
            </a:r>
          </a:p>
          <a:p>
            <a:pPr marL="0" indent="0" algn="just">
              <a:buNone/>
            </a:pPr>
            <a:r>
              <a:rPr lang="en-US" b="1" dirty="0">
                <a:latin typeface="Arial" panose="020B0604020202020204" pitchFamily="34" charset="0"/>
                <a:cs typeface="Arial" panose="020B0604020202020204" pitchFamily="34" charset="0"/>
              </a:rPr>
              <a:t>Image creation:</a:t>
            </a:r>
          </a:p>
          <a:p>
            <a:pPr marL="0" indent="0" algn="just">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image is created by detecting the positions of the two photons in the detector array.</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188FFF6-357E-4113-A66C-6886DB714166}"/>
              </a:ext>
            </a:extLst>
          </p:cNvPr>
          <p:cNvPicPr>
            <a:picLocks noChangeAspect="1"/>
          </p:cNvPicPr>
          <p:nvPr/>
        </p:nvPicPr>
        <p:blipFill>
          <a:blip r:embed="rId2"/>
          <a:stretch>
            <a:fillRect/>
          </a:stretch>
        </p:blipFill>
        <p:spPr>
          <a:xfrm>
            <a:off x="528638" y="1808146"/>
            <a:ext cx="3024188" cy="3925904"/>
          </a:xfrm>
          <a:prstGeom prst="rect">
            <a:avLst/>
          </a:prstGeom>
        </p:spPr>
      </p:pic>
    </p:spTree>
    <p:extLst>
      <p:ext uri="{BB962C8B-B14F-4D97-AF65-F5344CB8AC3E}">
        <p14:creationId xmlns:p14="http://schemas.microsoft.com/office/powerpoint/2010/main" val="687744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8287" y="720139"/>
            <a:ext cx="9596388" cy="1002783"/>
          </a:xfrm>
        </p:spPr>
        <p:txBody>
          <a:bodyPr>
            <a:normAutofit/>
          </a:bodyPr>
          <a:lstStyle/>
          <a:p>
            <a:r>
              <a:rPr lang="en-IN" sz="3400" b="1" dirty="0">
                <a:latin typeface="Arial" panose="020B0604020202020204" pitchFamily="34" charset="0"/>
                <a:cs typeface="Arial" panose="020B0604020202020204" pitchFamily="34" charset="0"/>
              </a:rPr>
              <a:t>AIM</a:t>
            </a:r>
          </a:p>
        </p:txBody>
      </p:sp>
      <p:sp>
        <p:nvSpPr>
          <p:cNvPr id="3" name="Content Placeholder 2"/>
          <p:cNvSpPr>
            <a:spLocks noGrp="1"/>
          </p:cNvSpPr>
          <p:nvPr>
            <p:ph idx="1"/>
          </p:nvPr>
        </p:nvSpPr>
        <p:spPr>
          <a:xfrm>
            <a:off x="1328288" y="2861109"/>
            <a:ext cx="9596388" cy="1558491"/>
          </a:xfrm>
        </p:spPr>
        <p:txBody>
          <a:bodyPr>
            <a:normAutofit fontScale="77500" lnSpcReduction="20000"/>
          </a:bodyPr>
          <a:lstStyle/>
          <a:p>
            <a:pPr marL="0" indent="0" algn="just">
              <a:lnSpc>
                <a:spcPct val="150000"/>
              </a:lnSpc>
              <a:buNone/>
            </a:pPr>
            <a:r>
              <a:rPr lang="en-US" sz="2500" dirty="0">
                <a:latin typeface="Arial" panose="020B0604020202020204" pitchFamily="34" charset="0"/>
                <a:cs typeface="Arial" panose="020B0604020202020204" pitchFamily="34" charset="0"/>
              </a:rPr>
              <a:t>The </a:t>
            </a:r>
            <a:r>
              <a:rPr lang="en-US" sz="2500" b="1" dirty="0">
                <a:latin typeface="Arial" panose="020B0604020202020204" pitchFamily="34" charset="0"/>
                <a:cs typeface="Arial" panose="020B0604020202020204" pitchFamily="34" charset="0"/>
              </a:rPr>
              <a:t>aim</a:t>
            </a:r>
            <a:r>
              <a:rPr lang="en-US" sz="2500" dirty="0">
                <a:latin typeface="Arial" panose="020B0604020202020204" pitchFamily="34" charset="0"/>
                <a:cs typeface="Arial" panose="020B0604020202020204" pitchFamily="34" charset="0"/>
              </a:rPr>
              <a:t> of this project is to develop a deep autoencoder </a:t>
            </a:r>
            <a:r>
              <a:rPr lang="en-US" sz="2500" b="1" dirty="0">
                <a:latin typeface="Arial" panose="020B0604020202020204" pitchFamily="34" charset="0"/>
                <a:cs typeface="Arial" panose="020B0604020202020204" pitchFamily="34" charset="0"/>
              </a:rPr>
              <a:t>(DAE) </a:t>
            </a:r>
            <a:r>
              <a:rPr lang="en-US" sz="2500" dirty="0">
                <a:latin typeface="Arial" panose="020B0604020202020204" pitchFamily="34" charset="0"/>
                <a:cs typeface="Arial" panose="020B0604020202020204" pitchFamily="34" charset="0"/>
              </a:rPr>
              <a:t>model for denoising </a:t>
            </a:r>
            <a:r>
              <a:rPr lang="en-US" sz="2500" b="1" dirty="0">
                <a:latin typeface="Arial" panose="020B0604020202020204" pitchFamily="34" charset="0"/>
                <a:cs typeface="Arial" panose="020B0604020202020204" pitchFamily="34" charset="0"/>
              </a:rPr>
              <a:t>PET</a:t>
            </a:r>
            <a:r>
              <a:rPr lang="en-US" sz="2500" dirty="0">
                <a:latin typeface="Arial" panose="020B0604020202020204" pitchFamily="34" charset="0"/>
                <a:cs typeface="Arial" panose="020B0604020202020204" pitchFamily="34" charset="0"/>
              </a:rPr>
              <a:t> (Positron Emission Tomography) images, which would enhance image quality while reducing radiation exposure to patients by enabling lower-dose scans.</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9370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8286" y="219625"/>
            <a:ext cx="9596388" cy="1002783"/>
          </a:xfrm>
        </p:spPr>
        <p:txBody>
          <a:bodyPr>
            <a:normAutofit/>
          </a:bodyPr>
          <a:lstStyle/>
          <a:p>
            <a:r>
              <a:rPr lang="en-IN" sz="3400" b="1" dirty="0">
                <a:latin typeface="Arial" panose="020B0604020202020204" pitchFamily="34" charset="0"/>
                <a:cs typeface="Arial" panose="020B0604020202020204" pitchFamily="34" charset="0"/>
              </a:rPr>
              <a:t> OBJECTIVES AND MOTIVATION</a:t>
            </a:r>
          </a:p>
        </p:txBody>
      </p:sp>
      <p:sp>
        <p:nvSpPr>
          <p:cNvPr id="3" name="Content Placeholder 2"/>
          <p:cNvSpPr>
            <a:spLocks noGrp="1"/>
          </p:cNvSpPr>
          <p:nvPr>
            <p:ph idx="1"/>
          </p:nvPr>
        </p:nvSpPr>
        <p:spPr>
          <a:xfrm>
            <a:off x="1328286" y="1530417"/>
            <a:ext cx="9596387" cy="5005137"/>
          </a:xfrm>
        </p:spPr>
        <p:txBody>
          <a:bodyPr>
            <a:normAutofit/>
          </a:bodyPr>
          <a:lstStyle/>
          <a:p>
            <a:r>
              <a:rPr lang="en-IN" b="1" dirty="0">
                <a:latin typeface="Arial" panose="020B0604020202020204" pitchFamily="34" charset="0"/>
                <a:cs typeface="Arial" panose="020B0604020202020204" pitchFamily="34" charset="0"/>
              </a:rPr>
              <a:t>Objectives</a:t>
            </a:r>
            <a:r>
              <a:rPr lang="en-IN" dirty="0">
                <a:latin typeface="Arial" panose="020B0604020202020204" pitchFamily="34" charset="0"/>
                <a:cs typeface="Arial" panose="020B0604020202020204" pitchFamily="34" charset="0"/>
              </a:rPr>
              <a:t>:</a:t>
            </a:r>
          </a:p>
          <a:p>
            <a:pPr marL="400050" indent="-400050" algn="just">
              <a:buAutoNum type="romanLcParenBoth"/>
            </a:pPr>
            <a:r>
              <a:rPr lang="en-US" dirty="0">
                <a:latin typeface="Arial" panose="020B0604020202020204" pitchFamily="34" charset="0"/>
                <a:cs typeface="Arial" panose="020B0604020202020204" pitchFamily="34" charset="0"/>
              </a:rPr>
              <a:t>To load DICOM PET data, organize it into series, building 3D volumes and normalize the image data.</a:t>
            </a:r>
          </a:p>
          <a:p>
            <a:pPr marL="400050" indent="-400050" algn="just">
              <a:buAutoNum type="romanLcParenBoth"/>
            </a:pPr>
            <a:r>
              <a:rPr lang="en-US" dirty="0">
                <a:latin typeface="Arial" panose="020B0604020202020204" pitchFamily="34" charset="0"/>
                <a:cs typeface="Arial" panose="020B0604020202020204" pitchFamily="34" charset="0"/>
              </a:rPr>
              <a:t>To create synthetic low-dose PET images by adding Noise (Poisson, Gaussian, Motion Artifacts), extract 3D patches and build training datasets of noisy/clean image pairs. </a:t>
            </a:r>
          </a:p>
          <a:p>
            <a:pPr marL="400050" indent="-400050" algn="just">
              <a:buAutoNum type="romanLcParenBoth"/>
            </a:pPr>
            <a:r>
              <a:rPr lang="en-US" dirty="0">
                <a:latin typeface="Arial" panose="020B0604020202020204" pitchFamily="34" charset="0"/>
                <a:cs typeface="Arial" panose="020B0604020202020204" pitchFamily="34" charset="0"/>
              </a:rPr>
              <a:t>To design and train a deep autoencoder neural network with multiple hidden layers to learn noise patterns and restore clean images.</a:t>
            </a:r>
          </a:p>
          <a:p>
            <a:pPr marL="400050" indent="-400050" algn="just">
              <a:buAutoNum type="romanLcParenBoth"/>
            </a:pPr>
            <a:r>
              <a:rPr lang="en-US" dirty="0">
                <a:latin typeface="Arial" panose="020B0604020202020204" pitchFamily="34" charset="0"/>
                <a:cs typeface="Arial" panose="020B0604020202020204" pitchFamily="34" charset="0"/>
              </a:rPr>
              <a:t>To apply the trained model to denoise test volumes, calculate quality metrics (PSNR, MSE, SSIM, Brisque Values) and to generate comparative visualizations (slices, difference maps) to assess performance.</a:t>
            </a:r>
          </a:p>
          <a:p>
            <a:pPr marL="400050" indent="-400050" algn="just">
              <a:buAutoNum type="romanLcParenBoth"/>
            </a:pPr>
            <a:endParaRPr lang="en-IN"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Motivation:</a:t>
            </a:r>
            <a:r>
              <a:rPr lang="en-US" dirty="0">
                <a:latin typeface="Arial" panose="020B0604020202020204" pitchFamily="34" charset="0"/>
                <a:cs typeface="Arial" panose="020B0604020202020204" pitchFamily="34" charset="0"/>
              </a:rPr>
              <a:t> </a:t>
            </a:r>
          </a:p>
          <a:p>
            <a:pPr marL="0" indent="0" algn="just">
              <a:buNone/>
            </a:pPr>
            <a:r>
              <a:rPr lang="en-US" dirty="0">
                <a:latin typeface="Arial" panose="020B0604020202020204" pitchFamily="34" charset="0"/>
                <a:cs typeface="Arial" panose="020B0604020202020204" pitchFamily="34" charset="0"/>
              </a:rPr>
              <a:t>       The motivation for this project is to reduce radiation exposure during PET scans by enabling high-quality imaging at lower doses, improving patient safety and scan efficiency. </a:t>
            </a:r>
          </a:p>
          <a:p>
            <a:pPr marL="0" indent="0" algn="just">
              <a:buNone/>
            </a:pP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8405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rmAutofit/>
          </a:bodyPr>
          <a:lstStyle/>
          <a:p>
            <a:r>
              <a:rPr lang="en-IN" sz="3600" b="1" dirty="0">
                <a:latin typeface="Arial" panose="020B0604020202020204" pitchFamily="34" charset="0"/>
                <a:cs typeface="Arial" panose="020B0604020202020204" pitchFamily="34" charset="0"/>
              </a:rPr>
              <a:t>dataset overview</a:t>
            </a:r>
          </a:p>
        </p:txBody>
      </p:sp>
      <p:sp>
        <p:nvSpPr>
          <p:cNvPr id="3" name="Content Placeholder 2"/>
          <p:cNvSpPr>
            <a:spLocks noGrp="1"/>
          </p:cNvSpPr>
          <p:nvPr>
            <p:ph idx="1"/>
          </p:nvPr>
        </p:nvSpPr>
        <p:spPr>
          <a:xfrm>
            <a:off x="3705225" y="1428750"/>
            <a:ext cx="7858125" cy="5267325"/>
          </a:xfrm>
        </p:spPr>
        <p:txBody>
          <a:bodyPr>
            <a:normAutofit fontScale="92500" lnSpcReduction="20000"/>
          </a:bodyPr>
          <a:lstStyle/>
          <a:p>
            <a:pPr marL="0" indent="0" algn="just">
              <a:buNone/>
            </a:pPr>
            <a:r>
              <a:rPr lang="en-US" sz="1600" b="1" dirty="0">
                <a:latin typeface="Arial" panose="020B0604020202020204" pitchFamily="34" charset="0"/>
                <a:cs typeface="Arial" panose="020B0604020202020204" pitchFamily="34" charset="0"/>
              </a:rPr>
              <a:t>Data Source:</a:t>
            </a:r>
          </a:p>
          <a:p>
            <a:pPr algn="just">
              <a:lnSpc>
                <a:spcPct val="110000"/>
              </a:lnSpc>
            </a:pPr>
            <a:r>
              <a:rPr lang="en-US" sz="1600" dirty="0">
                <a:latin typeface="Arial" panose="020B0604020202020204" pitchFamily="34" charset="0"/>
                <a:cs typeface="Arial" panose="020B0604020202020204" pitchFamily="34" charset="0"/>
              </a:rPr>
              <a:t>Collected Chest PET scan images (4D DICOM) from </a:t>
            </a:r>
            <a:r>
              <a:rPr lang="en-US" sz="1600" dirty="0" err="1">
                <a:latin typeface="Arial" panose="020B0604020202020204" pitchFamily="34" charset="0"/>
                <a:cs typeface="Arial" panose="020B0604020202020204" pitchFamily="34" charset="0"/>
              </a:rPr>
              <a:t>Turun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Yliopistollinen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sairaala</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Turku University Hospital</a:t>
            </a:r>
            <a:r>
              <a:rPr lang="en-US" sz="1600" dirty="0">
                <a:latin typeface="Arial" panose="020B0604020202020204" pitchFamily="34" charset="0"/>
                <a:cs typeface="Arial" panose="020B0604020202020204" pitchFamily="34" charset="0"/>
              </a:rPr>
              <a:t>) in </a:t>
            </a:r>
            <a:r>
              <a:rPr lang="en-US" sz="1600" b="1" dirty="0">
                <a:latin typeface="Arial" panose="020B0604020202020204" pitchFamily="34" charset="0"/>
                <a:cs typeface="Arial" panose="020B0604020202020204" pitchFamily="34" charset="0"/>
              </a:rPr>
              <a:t>Turku, Finland</a:t>
            </a:r>
            <a:r>
              <a:rPr lang="en-US" sz="1600" dirty="0">
                <a:latin typeface="Arial" panose="020B0604020202020204" pitchFamily="34" charset="0"/>
                <a:cs typeface="Arial" panose="020B0604020202020204" pitchFamily="34" charset="0"/>
              </a:rPr>
              <a:t>, using a GE Medical Systems Discovery MI PET scanner (station name: "</a:t>
            </a:r>
            <a:r>
              <a:rPr lang="en-US" sz="1600" b="1" dirty="0">
                <a:latin typeface="Arial" panose="020B0604020202020204" pitchFamily="34" charset="0"/>
                <a:cs typeface="Arial" panose="020B0604020202020204" pitchFamily="34" charset="0"/>
              </a:rPr>
              <a:t>Aino</a:t>
            </a:r>
            <a:r>
              <a:rPr lang="en-US" sz="1600" dirty="0">
                <a:latin typeface="Arial" panose="020B0604020202020204" pitchFamily="34" charset="0"/>
                <a:cs typeface="Arial" panose="020B0604020202020204" pitchFamily="34" charset="0"/>
              </a:rPr>
              <a:t>")</a:t>
            </a:r>
          </a:p>
          <a:p>
            <a:pPr algn="just">
              <a:lnSpc>
                <a:spcPct val="110000"/>
              </a:lnSpc>
            </a:pPr>
            <a:r>
              <a:rPr lang="en-US" sz="1600" dirty="0">
                <a:latin typeface="Arial" panose="020B0604020202020204" pitchFamily="34" charset="0"/>
                <a:cs typeface="Arial" panose="020B0604020202020204" pitchFamily="34" charset="0"/>
              </a:rPr>
              <a:t>PET Image Dataset is subdivided into PT_20p 150_120 OSEM , PT_20p 150_120   BSREM, ... 24 sub-datasets consisting 1704 images  each. </a:t>
            </a:r>
          </a:p>
          <a:p>
            <a:pPr algn="just">
              <a:lnSpc>
                <a:spcPct val="110000"/>
              </a:lnSpc>
            </a:pPr>
            <a:r>
              <a:rPr lang="en-US" sz="1600" dirty="0">
                <a:latin typeface="Arial" panose="020B0604020202020204" pitchFamily="34" charset="0"/>
                <a:cs typeface="Arial" panose="020B0604020202020204" pitchFamily="34" charset="0"/>
              </a:rPr>
              <a:t>Where 20p,40p represents – 20%,40% of injected tracer activity.</a:t>
            </a:r>
          </a:p>
          <a:p>
            <a:pPr algn="just">
              <a:lnSpc>
                <a:spcPct val="110000"/>
              </a:lnSpc>
            </a:pPr>
            <a:r>
              <a:rPr lang="en-US" sz="1600" dirty="0">
                <a:latin typeface="Arial" panose="020B0604020202020204" pitchFamily="34" charset="0"/>
                <a:cs typeface="Arial" panose="020B0604020202020204" pitchFamily="34" charset="0"/>
              </a:rPr>
              <a:t>150_120 or 120_150 refers – to the range of photon energies (eV) emitted by   the     tracer.</a:t>
            </a:r>
          </a:p>
          <a:p>
            <a:pPr algn="just">
              <a:lnSpc>
                <a:spcPct val="110000"/>
              </a:lnSpc>
            </a:pPr>
            <a:r>
              <a:rPr lang="en-US" sz="1600" dirty="0">
                <a:latin typeface="Arial" panose="020B0604020202020204" pitchFamily="34" charset="0"/>
                <a:cs typeface="Arial" panose="020B0604020202020204" pitchFamily="34" charset="0"/>
              </a:rPr>
              <a:t>     BSREM – Block Sequential Regularized Expectation Maximization.</a:t>
            </a:r>
          </a:p>
          <a:p>
            <a:pPr algn="just">
              <a:lnSpc>
                <a:spcPct val="110000"/>
              </a:lnSpc>
            </a:pPr>
            <a:r>
              <a:rPr lang="en-US" sz="1600" dirty="0">
                <a:latin typeface="Arial" panose="020B0604020202020204" pitchFamily="34" charset="0"/>
                <a:cs typeface="Arial" panose="020B0604020202020204" pitchFamily="34" charset="0"/>
              </a:rPr>
              <a:t>     OSEM – Ordered Subset Expectation Maximization.</a:t>
            </a:r>
          </a:p>
          <a:p>
            <a:pPr algn="just">
              <a:lnSpc>
                <a:spcPct val="110000"/>
              </a:lnSpc>
            </a:pPr>
            <a:r>
              <a:rPr lang="en-US" sz="1600" dirty="0">
                <a:latin typeface="Arial" panose="020B0604020202020204" pitchFamily="34" charset="0"/>
                <a:cs typeface="Arial" panose="020B0604020202020204" pitchFamily="34" charset="0"/>
              </a:rPr>
              <a:t>BSREM and OSEM are the initial Reconstruction Methods used to create the data.</a:t>
            </a:r>
          </a:p>
          <a:p>
            <a:pPr algn="just">
              <a:lnSpc>
                <a:spcPct val="110000"/>
              </a:lnSpc>
            </a:pPr>
            <a:r>
              <a:rPr lang="en-US" sz="1600" dirty="0">
                <a:latin typeface="Arial" panose="020B0604020202020204" pitchFamily="34" charset="0"/>
                <a:cs typeface="Arial" panose="020B0604020202020204" pitchFamily="34" charset="0"/>
              </a:rPr>
              <a:t>The scans were conducted following a standard chest PET/CT protocol using H2O (water) labeled with Oxygen-15 isotope (^15O) as the radiotracer.</a:t>
            </a:r>
          </a:p>
          <a:p>
            <a:pPr algn="just">
              <a:lnSpc>
                <a:spcPct val="110000"/>
              </a:lnSpc>
            </a:pPr>
            <a:r>
              <a:rPr lang="en-US" sz="1600" dirty="0">
                <a:latin typeface="Arial" panose="020B0604020202020204" pitchFamily="34" charset="0"/>
                <a:cs typeface="Arial" panose="020B0604020202020204" pitchFamily="34" charset="0"/>
              </a:rPr>
              <a:t>Typical matrix size: 192x192 pixels per slice with variable number of slices.</a:t>
            </a:r>
          </a:p>
          <a:p>
            <a:pPr algn="just">
              <a:lnSpc>
                <a:spcPct val="110000"/>
              </a:lnSpc>
            </a:pPr>
            <a:r>
              <a:rPr lang="en-US" sz="1600" dirty="0">
                <a:latin typeface="Arial" panose="020B0604020202020204" pitchFamily="34" charset="0"/>
                <a:cs typeface="Arial" panose="020B0604020202020204" pitchFamily="34" charset="0"/>
              </a:rPr>
              <a:t>Slice Thickness : ~3.75 mm</a:t>
            </a:r>
          </a:p>
          <a:p>
            <a:pPr algn="just">
              <a:lnSpc>
                <a:spcPct val="110000"/>
              </a:lnSpc>
            </a:pPr>
            <a:r>
              <a:rPr lang="fr-FR" sz="1600" dirty="0">
                <a:latin typeface="Arial" panose="020B0604020202020204" pitchFamily="34" charset="0"/>
                <a:cs typeface="Arial" panose="020B0604020202020204" pitchFamily="34" charset="0"/>
              </a:rPr>
              <a:t>Voxel dimensions: Approximately  51× 51 × 3.75 mm³.</a:t>
            </a:r>
            <a:endParaRPr lang="en-US" sz="1600" dirty="0">
              <a:latin typeface="Arial" panose="020B0604020202020204" pitchFamily="34" charset="0"/>
              <a:cs typeface="Arial" panose="020B0604020202020204" pitchFamily="34" charset="0"/>
            </a:endParaRPr>
          </a:p>
          <a:p>
            <a:pPr algn="just">
              <a:lnSpc>
                <a:spcPct val="110000"/>
              </a:lnSpc>
            </a:pPr>
            <a:endParaRPr lang="en-IN" dirty="0"/>
          </a:p>
        </p:txBody>
      </p:sp>
      <p:pic>
        <p:nvPicPr>
          <p:cNvPr id="4" name="Picture 3">
            <a:extLst>
              <a:ext uri="{FF2B5EF4-FFF2-40B4-BE49-F238E27FC236}">
                <a16:creationId xmlns:a16="http://schemas.microsoft.com/office/drawing/2014/main" id="{EAE6E92D-21F2-40B7-878E-B25C9FA8E40A}"/>
              </a:ext>
            </a:extLst>
          </p:cNvPr>
          <p:cNvPicPr>
            <a:picLocks noChangeAspect="1"/>
          </p:cNvPicPr>
          <p:nvPr/>
        </p:nvPicPr>
        <p:blipFill>
          <a:blip r:embed="rId2"/>
          <a:stretch>
            <a:fillRect/>
          </a:stretch>
        </p:blipFill>
        <p:spPr>
          <a:xfrm>
            <a:off x="354661" y="1811901"/>
            <a:ext cx="1474139" cy="1480595"/>
          </a:xfrm>
          <a:prstGeom prst="rect">
            <a:avLst/>
          </a:prstGeom>
        </p:spPr>
      </p:pic>
      <p:pic>
        <p:nvPicPr>
          <p:cNvPr id="6" name="Picture 5">
            <a:extLst>
              <a:ext uri="{FF2B5EF4-FFF2-40B4-BE49-F238E27FC236}">
                <a16:creationId xmlns:a16="http://schemas.microsoft.com/office/drawing/2014/main" id="{056B030A-35A1-40AD-B886-F903B714A545}"/>
              </a:ext>
            </a:extLst>
          </p:cNvPr>
          <p:cNvPicPr>
            <a:picLocks noChangeAspect="1"/>
          </p:cNvPicPr>
          <p:nvPr/>
        </p:nvPicPr>
        <p:blipFill>
          <a:blip r:embed="rId3"/>
          <a:stretch>
            <a:fillRect/>
          </a:stretch>
        </p:blipFill>
        <p:spPr>
          <a:xfrm>
            <a:off x="1990203" y="1811900"/>
            <a:ext cx="1553618" cy="1480595"/>
          </a:xfrm>
          <a:prstGeom prst="rect">
            <a:avLst/>
          </a:prstGeom>
        </p:spPr>
      </p:pic>
      <p:pic>
        <p:nvPicPr>
          <p:cNvPr id="7" name="Picture 6">
            <a:extLst>
              <a:ext uri="{FF2B5EF4-FFF2-40B4-BE49-F238E27FC236}">
                <a16:creationId xmlns:a16="http://schemas.microsoft.com/office/drawing/2014/main" id="{0575F86D-81A1-44A3-894A-101E6CE2564B}"/>
              </a:ext>
            </a:extLst>
          </p:cNvPr>
          <p:cNvPicPr>
            <a:picLocks noChangeAspect="1"/>
          </p:cNvPicPr>
          <p:nvPr/>
        </p:nvPicPr>
        <p:blipFill>
          <a:blip r:embed="rId4"/>
          <a:stretch>
            <a:fillRect/>
          </a:stretch>
        </p:blipFill>
        <p:spPr>
          <a:xfrm>
            <a:off x="1173810" y="3429000"/>
            <a:ext cx="1474139" cy="1467229"/>
          </a:xfrm>
          <a:prstGeom prst="rect">
            <a:avLst/>
          </a:prstGeom>
        </p:spPr>
      </p:pic>
      <p:sp>
        <p:nvSpPr>
          <p:cNvPr id="5" name="TextBox 4">
            <a:extLst>
              <a:ext uri="{FF2B5EF4-FFF2-40B4-BE49-F238E27FC236}">
                <a16:creationId xmlns:a16="http://schemas.microsoft.com/office/drawing/2014/main" id="{B23F5931-70C6-4577-9D0B-62612CCFE4FD}"/>
              </a:ext>
            </a:extLst>
          </p:cNvPr>
          <p:cNvSpPr txBox="1"/>
          <p:nvPr/>
        </p:nvSpPr>
        <p:spPr>
          <a:xfrm>
            <a:off x="1404936" y="5029115"/>
            <a:ext cx="248602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SLICES</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5330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0792" y="255091"/>
            <a:ext cx="8932244" cy="640259"/>
          </a:xfrm>
        </p:spPr>
        <p:txBody>
          <a:bodyPr>
            <a:noAutofit/>
          </a:bodyPr>
          <a:lstStyle/>
          <a:p>
            <a:r>
              <a:rPr lang="en-IN" sz="3200" b="1" dirty="0">
                <a:latin typeface="Arial" panose="020B0604020202020204" pitchFamily="34" charset="0"/>
                <a:cs typeface="Arial" panose="020B0604020202020204" pitchFamily="34" charset="0"/>
              </a:rPr>
              <a:t>Block Diagram</a:t>
            </a:r>
          </a:p>
        </p:txBody>
      </p:sp>
      <p:sp>
        <p:nvSpPr>
          <p:cNvPr id="3" name="Content Placeholder 2"/>
          <p:cNvSpPr>
            <a:spLocks noGrp="1"/>
          </p:cNvSpPr>
          <p:nvPr>
            <p:ph idx="1"/>
          </p:nvPr>
        </p:nvSpPr>
        <p:spPr>
          <a:xfrm>
            <a:off x="2310158" y="1749778"/>
            <a:ext cx="7729728" cy="5108222"/>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IN" dirty="0"/>
          </a:p>
        </p:txBody>
      </p:sp>
      <p:pic>
        <p:nvPicPr>
          <p:cNvPr id="4" name="Picture 3">
            <a:extLst>
              <a:ext uri="{FF2B5EF4-FFF2-40B4-BE49-F238E27FC236}">
                <a16:creationId xmlns:a16="http://schemas.microsoft.com/office/drawing/2014/main" id="{DC5BB8CC-118E-4BED-8226-D086F0F91B79}"/>
              </a:ext>
            </a:extLst>
          </p:cNvPr>
          <p:cNvPicPr>
            <a:picLocks noChangeAspect="1"/>
          </p:cNvPicPr>
          <p:nvPr/>
        </p:nvPicPr>
        <p:blipFill>
          <a:blip r:embed="rId2"/>
          <a:stretch>
            <a:fillRect/>
          </a:stretch>
        </p:blipFill>
        <p:spPr>
          <a:xfrm>
            <a:off x="1520792" y="1253993"/>
            <a:ext cx="8932244" cy="5108222"/>
          </a:xfrm>
          <a:prstGeom prst="rect">
            <a:avLst/>
          </a:prstGeom>
        </p:spPr>
      </p:pic>
    </p:spTree>
    <p:extLst>
      <p:ext uri="{BB962C8B-B14F-4D97-AF65-F5344CB8AC3E}">
        <p14:creationId xmlns:p14="http://schemas.microsoft.com/office/powerpoint/2010/main" val="2346125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rmAutofit/>
          </a:bodyPr>
          <a:lstStyle/>
          <a:p>
            <a:r>
              <a:rPr lang="en-IN" sz="3600" b="1" dirty="0">
                <a:latin typeface="Arial" panose="020B0604020202020204" pitchFamily="34" charset="0"/>
                <a:cs typeface="Arial" panose="020B0604020202020204" pitchFamily="34" charset="0"/>
              </a:rPr>
              <a:t>Methodology</a:t>
            </a:r>
          </a:p>
        </p:txBody>
      </p:sp>
      <p:sp>
        <p:nvSpPr>
          <p:cNvPr id="3" name="Content Placeholder 2"/>
          <p:cNvSpPr>
            <a:spLocks noGrp="1"/>
          </p:cNvSpPr>
          <p:nvPr>
            <p:ph idx="1"/>
          </p:nvPr>
        </p:nvSpPr>
        <p:spPr>
          <a:xfrm>
            <a:off x="1424539" y="1520792"/>
            <a:ext cx="9365381" cy="5130265"/>
          </a:xfrm>
        </p:spPr>
        <p:txBody>
          <a:bodyPr>
            <a:normAutofit/>
          </a:bodyPr>
          <a:lstStyle/>
          <a:p>
            <a:pPr algn="just"/>
            <a:r>
              <a:rPr lang="en-US" b="1" dirty="0">
                <a:latin typeface="Arial" panose="020B0604020202020204" pitchFamily="34" charset="0"/>
                <a:cs typeface="Arial" panose="020B0604020202020204" pitchFamily="34" charset="0"/>
              </a:rPr>
              <a:t>DICOM PET Data</a:t>
            </a:r>
            <a:r>
              <a:rPr lang="en-US" dirty="0">
                <a:latin typeface="Arial" panose="020B0604020202020204" pitchFamily="34" charset="0"/>
                <a:cs typeface="Arial" panose="020B0604020202020204" pitchFamily="34" charset="0"/>
              </a:rPr>
              <a:t>: Individual 2D DICOM files, each with dimensions [rows × columns] </a:t>
            </a:r>
          </a:p>
          <a:p>
            <a:pPr algn="just"/>
            <a:r>
              <a:rPr lang="en-US" b="1" dirty="0">
                <a:latin typeface="Arial" panose="020B0604020202020204" pitchFamily="34" charset="0"/>
                <a:cs typeface="Arial" panose="020B0604020202020204" pitchFamily="34" charset="0"/>
              </a:rPr>
              <a:t>Series Organization</a:t>
            </a:r>
            <a:r>
              <a:rPr lang="en-US" dirty="0">
                <a:latin typeface="Arial" panose="020B0604020202020204" pitchFamily="34" charset="0"/>
                <a:cs typeface="Arial" panose="020B0604020202020204" pitchFamily="34" charset="0"/>
              </a:rPr>
              <a:t>: Groups DICOM files into series, multiple frames acquired at different time points would be organized as separate series based on "SeriesInstanceUID“.</a:t>
            </a:r>
          </a:p>
          <a:p>
            <a:pPr algn="just"/>
            <a:r>
              <a:rPr lang="en-US" b="1" dirty="0">
                <a:latin typeface="Arial" panose="020B0604020202020204" pitchFamily="34" charset="0"/>
                <a:cs typeface="Arial" panose="020B0604020202020204" pitchFamily="34" charset="0"/>
              </a:rPr>
              <a:t>Volume Building</a:t>
            </a:r>
            <a:r>
              <a:rPr lang="en-US" dirty="0">
                <a:latin typeface="Arial" panose="020B0604020202020204" pitchFamily="34" charset="0"/>
                <a:cs typeface="Arial" panose="020B0604020202020204" pitchFamily="34" charset="0"/>
              </a:rPr>
              <a:t>: Converts 2D DICOM slices into a cohesive 3D volume representation of the patient's scan data.</a:t>
            </a:r>
          </a:p>
          <a:p>
            <a:pPr algn="just"/>
            <a:r>
              <a:rPr lang="en-US" b="1" dirty="0">
                <a:latin typeface="Arial" panose="020B0604020202020204" pitchFamily="34" charset="0"/>
                <a:cs typeface="Arial" panose="020B0604020202020204" pitchFamily="34" charset="0"/>
              </a:rPr>
              <a:t>Normalization</a:t>
            </a:r>
            <a:r>
              <a:rPr lang="en-US" dirty="0">
                <a:latin typeface="Arial" panose="020B0604020202020204" pitchFamily="34" charset="0"/>
                <a:cs typeface="Arial" panose="020B0604020202020204" pitchFamily="34" charset="0"/>
              </a:rPr>
              <a:t>: Scales the pixel values to a standardized range (0-1) to ensure consistent processing across different scans.</a:t>
            </a:r>
          </a:p>
          <a:p>
            <a:pPr algn="just"/>
            <a:r>
              <a:rPr lang="en-US" b="1" dirty="0">
                <a:latin typeface="Arial" panose="020B0604020202020204" pitchFamily="34" charset="0"/>
                <a:cs typeface="Arial" panose="020B0604020202020204" pitchFamily="34" charset="0"/>
              </a:rPr>
              <a:t>Add Noise</a:t>
            </a:r>
            <a:r>
              <a:rPr lang="en-US" dirty="0">
                <a:latin typeface="Arial" panose="020B0604020202020204" pitchFamily="34" charset="0"/>
                <a:cs typeface="Arial" panose="020B0604020202020204" pitchFamily="34" charset="0"/>
              </a:rPr>
              <a:t>: Introduces simulated noise (Poisson, Gaussian, or motion artifacts) to clean images to create paired training data or test denoising performance.</a:t>
            </a:r>
          </a:p>
          <a:p>
            <a:pPr algn="just"/>
            <a:r>
              <a:rPr lang="en-US" b="1" dirty="0">
                <a:latin typeface="Arial" panose="020B0604020202020204" pitchFamily="34" charset="0"/>
                <a:cs typeface="Arial" panose="020B0604020202020204" pitchFamily="34" charset="0"/>
              </a:rPr>
              <a:t>Extract 3D Patches</a:t>
            </a:r>
            <a:r>
              <a:rPr lang="en-US" dirty="0">
                <a:latin typeface="Arial" panose="020B0604020202020204" pitchFamily="34" charset="0"/>
                <a:cs typeface="Arial" panose="020B0604020202020204" pitchFamily="34" charset="0"/>
              </a:rPr>
              <a:t>: Divides volumes into small 3D subregions (patches) that serve as input samples for the neural network training.</a:t>
            </a:r>
          </a:p>
          <a:p>
            <a:pPr algn="just"/>
            <a:r>
              <a:rPr lang="en-US" b="1" dirty="0">
                <a:latin typeface="Arial" panose="020B0604020202020204" pitchFamily="34" charset="0"/>
                <a:cs typeface="Arial" panose="020B0604020202020204" pitchFamily="34" charset="0"/>
              </a:rPr>
              <a:t>Training Dataset X/Y</a:t>
            </a:r>
            <a:r>
              <a:rPr lang="en-US" dirty="0">
                <a:latin typeface="Arial" panose="020B0604020202020204" pitchFamily="34" charset="0"/>
                <a:cs typeface="Arial" panose="020B0604020202020204" pitchFamily="34" charset="0"/>
              </a:rPr>
              <a:t>: Paired dataset containing noisy patches (X) and their corresponding clean patches (Y) for supervised learning.</a:t>
            </a:r>
            <a:endParaRPr lang="en-IN" dirty="0"/>
          </a:p>
        </p:txBody>
      </p:sp>
    </p:spTree>
    <p:extLst>
      <p:ext uri="{BB962C8B-B14F-4D97-AF65-F5344CB8AC3E}">
        <p14:creationId xmlns:p14="http://schemas.microsoft.com/office/powerpoint/2010/main" val="150146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rmAutofit/>
          </a:bodyPr>
          <a:lstStyle/>
          <a:p>
            <a:r>
              <a:rPr lang="en-IN" sz="3600" b="1" dirty="0">
                <a:latin typeface="Arial" panose="020B0604020202020204" pitchFamily="34" charset="0"/>
                <a:cs typeface="Arial" panose="020B0604020202020204" pitchFamily="34" charset="0"/>
              </a:rPr>
              <a:t>Methodology</a:t>
            </a:r>
          </a:p>
        </p:txBody>
      </p:sp>
      <p:sp>
        <p:nvSpPr>
          <p:cNvPr id="3" name="Content Placeholder 2"/>
          <p:cNvSpPr>
            <a:spLocks noGrp="1"/>
          </p:cNvSpPr>
          <p:nvPr>
            <p:ph idx="1"/>
          </p:nvPr>
        </p:nvSpPr>
        <p:spPr>
          <a:xfrm>
            <a:off x="1424539" y="1520792"/>
            <a:ext cx="9365381" cy="5130265"/>
          </a:xfrm>
        </p:spPr>
        <p:txBody>
          <a:bodyPr>
            <a:normAutofit/>
          </a:bodyPr>
          <a:lstStyle/>
          <a:p>
            <a:pPr algn="just"/>
            <a:r>
              <a:rPr lang="en-US" b="1" dirty="0">
                <a:latin typeface="Arial" panose="020B0604020202020204" pitchFamily="34" charset="0"/>
                <a:cs typeface="Arial" panose="020B0604020202020204" pitchFamily="34" charset="0"/>
              </a:rPr>
              <a:t>DAE Model Training</a:t>
            </a:r>
            <a:r>
              <a:rPr lang="en-US" dirty="0">
                <a:latin typeface="Arial" panose="020B0604020202020204" pitchFamily="34" charset="0"/>
                <a:cs typeface="Arial" panose="020B0604020202020204" pitchFamily="34" charset="0"/>
              </a:rPr>
              <a:t>: Process of training the Deep Autoencoder using the paired patches to learn how to map noisy images to clean ones.</a:t>
            </a:r>
          </a:p>
          <a:p>
            <a:pPr algn="just"/>
            <a:r>
              <a:rPr lang="en-US" b="1" dirty="0">
                <a:latin typeface="Arial" panose="020B0604020202020204" pitchFamily="34" charset="0"/>
                <a:cs typeface="Arial" panose="020B0604020202020204" pitchFamily="34" charset="0"/>
              </a:rPr>
              <a:t>Trained DAE Model</a:t>
            </a:r>
            <a:r>
              <a:rPr lang="en-US" dirty="0">
                <a:latin typeface="Arial" panose="020B0604020202020204" pitchFamily="34" charset="0"/>
                <a:cs typeface="Arial" panose="020B0604020202020204" pitchFamily="34" charset="0"/>
              </a:rPr>
              <a:t>: The finalized neural network that has learned the noise patterns and how to remove them from PET images.</a:t>
            </a:r>
          </a:p>
          <a:p>
            <a:pPr algn="just"/>
            <a:r>
              <a:rPr lang="en-US" b="1" dirty="0">
                <a:latin typeface="Arial" panose="020B0604020202020204" pitchFamily="34" charset="0"/>
                <a:cs typeface="Arial" panose="020B0604020202020204" pitchFamily="34" charset="0"/>
              </a:rPr>
              <a:t>Denoise Volume</a:t>
            </a:r>
            <a:r>
              <a:rPr lang="en-US" dirty="0">
                <a:latin typeface="Arial" panose="020B0604020202020204" pitchFamily="34" charset="0"/>
                <a:cs typeface="Arial" panose="020B0604020202020204" pitchFamily="34" charset="0"/>
              </a:rPr>
              <a:t>: Process of applying the trained model to remove noise from entire PET volumes by processing overlapping patches.</a:t>
            </a:r>
          </a:p>
          <a:p>
            <a:pPr algn="just"/>
            <a:r>
              <a:rPr lang="en-US" b="1" dirty="0">
                <a:latin typeface="Arial" panose="020B0604020202020204" pitchFamily="34" charset="0"/>
                <a:cs typeface="Arial" panose="020B0604020202020204" pitchFamily="34" charset="0"/>
              </a:rPr>
              <a:t>Denoised PET Volume</a:t>
            </a:r>
            <a:r>
              <a:rPr lang="en-US" dirty="0">
                <a:latin typeface="Arial" panose="020B0604020202020204" pitchFamily="34" charset="0"/>
                <a:cs typeface="Arial" panose="020B0604020202020204" pitchFamily="34" charset="0"/>
              </a:rPr>
              <a:t>: The final output volume with reduced noise while preserving anatomical and functional information.</a:t>
            </a:r>
          </a:p>
          <a:p>
            <a:pPr algn="just"/>
            <a:r>
              <a:rPr lang="en-US" b="1" dirty="0">
                <a:latin typeface="Arial" panose="020B0604020202020204" pitchFamily="34" charset="0"/>
                <a:cs typeface="Arial" panose="020B0604020202020204" pitchFamily="34" charset="0"/>
              </a:rPr>
              <a:t>Evaluation Metrics</a:t>
            </a:r>
            <a:r>
              <a:rPr lang="en-US" dirty="0">
                <a:latin typeface="Arial" panose="020B0604020202020204" pitchFamily="34" charset="0"/>
                <a:cs typeface="Arial" panose="020B0604020202020204" pitchFamily="34" charset="0"/>
              </a:rPr>
              <a:t>: Quantitative measurements (MSE, PSNR, SSIM, Brisque) that assess the quality of denoising by comparing to ground truth.</a:t>
            </a:r>
          </a:p>
          <a:p>
            <a:pPr algn="just"/>
            <a:r>
              <a:rPr lang="en-US" b="1" dirty="0">
                <a:latin typeface="Arial" panose="020B0604020202020204" pitchFamily="34" charset="0"/>
                <a:cs typeface="Arial" panose="020B0604020202020204" pitchFamily="34" charset="0"/>
              </a:rPr>
              <a:t>Visualization</a:t>
            </a:r>
            <a:r>
              <a:rPr lang="en-US" dirty="0">
                <a:latin typeface="Arial" panose="020B0604020202020204" pitchFamily="34" charset="0"/>
                <a:cs typeface="Arial" panose="020B0604020202020204" pitchFamily="34" charset="0"/>
              </a:rPr>
              <a:t>: Methods to display results through various views (axial, coronal, sagittal slices).</a:t>
            </a:r>
          </a:p>
          <a:p>
            <a:pPr algn="just"/>
            <a:r>
              <a:rPr lang="en-US" b="1" dirty="0">
                <a:latin typeface="Arial" panose="020B0604020202020204" pitchFamily="34" charset="0"/>
                <a:cs typeface="Arial" panose="020B0604020202020204" pitchFamily="34" charset="0"/>
              </a:rPr>
              <a:t>DAE Architecture</a:t>
            </a:r>
            <a:r>
              <a:rPr lang="en-US" dirty="0">
                <a:latin typeface="Arial" panose="020B0604020202020204" pitchFamily="34" charset="0"/>
                <a:cs typeface="Arial" panose="020B0604020202020204" pitchFamily="34" charset="0"/>
              </a:rPr>
              <a:t>: The neural network structure with encoder layers that compress the data, a bottleneck representing the essential features, and decoder layers that reconstruct the clean image.</a:t>
            </a:r>
            <a:endParaRPr lang="en-IN" dirty="0"/>
          </a:p>
        </p:txBody>
      </p:sp>
    </p:spTree>
    <p:extLst>
      <p:ext uri="{BB962C8B-B14F-4D97-AF65-F5344CB8AC3E}">
        <p14:creationId xmlns:p14="http://schemas.microsoft.com/office/powerpoint/2010/main" val="3760437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0158" y="1749778"/>
            <a:ext cx="7729728" cy="5108222"/>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IN" dirty="0"/>
          </a:p>
        </p:txBody>
      </p:sp>
      <p:pic>
        <p:nvPicPr>
          <p:cNvPr id="8" name="Picture 7">
            <a:extLst>
              <a:ext uri="{FF2B5EF4-FFF2-40B4-BE49-F238E27FC236}">
                <a16:creationId xmlns:a16="http://schemas.microsoft.com/office/drawing/2014/main" id="{D070AAC7-4040-4CCE-A198-93B1B570476A}"/>
              </a:ext>
            </a:extLst>
          </p:cNvPr>
          <p:cNvPicPr>
            <a:picLocks noChangeAspect="1"/>
          </p:cNvPicPr>
          <p:nvPr/>
        </p:nvPicPr>
        <p:blipFill>
          <a:blip r:embed="rId2"/>
          <a:stretch>
            <a:fillRect/>
          </a:stretch>
        </p:blipFill>
        <p:spPr>
          <a:xfrm>
            <a:off x="657224" y="384589"/>
            <a:ext cx="11001375" cy="6145972"/>
          </a:xfrm>
          <a:prstGeom prst="rect">
            <a:avLst/>
          </a:prstGeom>
        </p:spPr>
      </p:pic>
    </p:spTree>
    <p:extLst>
      <p:ext uri="{BB962C8B-B14F-4D97-AF65-F5344CB8AC3E}">
        <p14:creationId xmlns:p14="http://schemas.microsoft.com/office/powerpoint/2010/main" val="1872215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Autofit/>
          </a:bodyPr>
          <a:lstStyle/>
          <a:p>
            <a:r>
              <a:rPr lang="en-US" sz="2500" b="1" dirty="0">
                <a:latin typeface="Arial" panose="020B0604020202020204" pitchFamily="34" charset="0"/>
                <a:cs typeface="Arial" panose="020B0604020202020204" pitchFamily="34" charset="0"/>
              </a:rPr>
              <a:t>D</a:t>
            </a:r>
            <a:r>
              <a:rPr lang="en-IN" sz="2500" b="1" dirty="0">
                <a:latin typeface="Arial" panose="020B0604020202020204" pitchFamily="34" charset="0"/>
                <a:cs typeface="Arial" panose="020B0604020202020204" pitchFamily="34" charset="0"/>
              </a:rPr>
              <a:t>AE architecture for PET Image denoising</a:t>
            </a:r>
          </a:p>
        </p:txBody>
      </p:sp>
      <p:sp>
        <p:nvSpPr>
          <p:cNvPr id="3" name="Content Placeholder 2"/>
          <p:cNvSpPr>
            <a:spLocks noGrp="1"/>
          </p:cNvSpPr>
          <p:nvPr>
            <p:ph idx="1"/>
          </p:nvPr>
        </p:nvSpPr>
        <p:spPr>
          <a:xfrm>
            <a:off x="1424539" y="1520792"/>
            <a:ext cx="9365381" cy="5130265"/>
          </a:xfrm>
        </p:spPr>
        <p:txBody>
          <a:bodyPr>
            <a:normAutofit/>
          </a:bodyPr>
          <a:lstStyle/>
          <a:p>
            <a:pPr marL="0" indent="0" algn="just">
              <a:buNone/>
            </a:pPr>
            <a:r>
              <a:rPr lang="en-US" b="1" dirty="0">
                <a:latin typeface="Arial" panose="020B0604020202020204" pitchFamily="34" charset="0"/>
                <a:cs typeface="Arial" panose="020B0604020202020204" pitchFamily="34" charset="0"/>
              </a:rPr>
              <a:t>Core Purpose</a:t>
            </a:r>
            <a:r>
              <a:rPr lang="en-US" dirty="0">
                <a:latin typeface="Arial" panose="020B0604020202020204" pitchFamily="34" charset="0"/>
                <a:cs typeface="Arial" panose="020B0604020202020204" pitchFamily="34" charset="0"/>
              </a:rPr>
              <a:t>: The system processes noisy PET scan images to produce cleaner, higher-quality images by removing (Poisson) Noise that typically affects low-dose PET scans. This is valuable in medical imaging as it potentially allows for lower radiation exposure to patients while maintaining diagnostic image quality.</a:t>
            </a:r>
          </a:p>
          <a:p>
            <a:pPr marL="0" indent="0" algn="just">
              <a:buNone/>
            </a:pPr>
            <a:r>
              <a:rPr lang="en-US" sz="2300" b="1" dirty="0">
                <a:latin typeface="Arial" panose="020B0604020202020204" pitchFamily="34" charset="0"/>
                <a:cs typeface="Arial" panose="020B0604020202020204" pitchFamily="34" charset="0"/>
              </a:rPr>
              <a:t>Architectural Components:</a:t>
            </a:r>
          </a:p>
          <a:p>
            <a:pPr marL="0" indent="0" algn="just">
              <a:buNone/>
            </a:pPr>
            <a:r>
              <a:rPr lang="en-US" b="1" dirty="0">
                <a:latin typeface="Arial" panose="020B0604020202020204" pitchFamily="34" charset="0"/>
                <a:cs typeface="Arial" panose="020B0604020202020204" pitchFamily="34" charset="0"/>
              </a:rPr>
              <a:t>3D Patch-Based Processing</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Instead of processing entire 3D volumes at once, the system extracts small 3D patches (5×5×5 voxels) from the images.</a:t>
            </a:r>
          </a:p>
          <a:p>
            <a:pPr algn="just"/>
            <a:r>
              <a:rPr lang="en-US" dirty="0">
                <a:latin typeface="Arial" panose="020B0604020202020204" pitchFamily="34" charset="0"/>
                <a:cs typeface="Arial" panose="020B0604020202020204" pitchFamily="34" charset="0"/>
              </a:rPr>
              <a:t>These patches are flattened into 125-element vectors that serve as inputs to the network.</a:t>
            </a:r>
          </a:p>
          <a:p>
            <a:pPr algn="just"/>
            <a:r>
              <a:rPr lang="en-US" dirty="0">
                <a:latin typeface="Arial" panose="020B0604020202020204" pitchFamily="34" charset="0"/>
                <a:cs typeface="Arial" panose="020B0604020202020204" pitchFamily="34" charset="0"/>
              </a:rPr>
              <a:t>Patches are extracted with a stride of 2, creating overlapping regions for better reconstruction</a:t>
            </a:r>
          </a:p>
        </p:txBody>
      </p:sp>
    </p:spTree>
    <p:extLst>
      <p:ext uri="{BB962C8B-B14F-4D97-AF65-F5344CB8AC3E}">
        <p14:creationId xmlns:p14="http://schemas.microsoft.com/office/powerpoint/2010/main" val="265646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Autofit/>
          </a:bodyPr>
          <a:lstStyle/>
          <a:p>
            <a:r>
              <a:rPr lang="en-US" sz="2500" b="1" dirty="0">
                <a:latin typeface="Arial" panose="020B0604020202020204" pitchFamily="34" charset="0"/>
                <a:cs typeface="Arial" panose="020B0604020202020204" pitchFamily="34" charset="0"/>
              </a:rPr>
              <a:t>D</a:t>
            </a:r>
            <a:r>
              <a:rPr lang="en-IN" sz="2500" b="1" dirty="0">
                <a:latin typeface="Arial" panose="020B0604020202020204" pitchFamily="34" charset="0"/>
                <a:cs typeface="Arial" panose="020B0604020202020204" pitchFamily="34" charset="0"/>
              </a:rPr>
              <a:t>AE architecture for PET Image denoising</a:t>
            </a:r>
          </a:p>
        </p:txBody>
      </p:sp>
      <p:sp>
        <p:nvSpPr>
          <p:cNvPr id="3" name="Content Placeholder 2"/>
          <p:cNvSpPr>
            <a:spLocks noGrp="1"/>
          </p:cNvSpPr>
          <p:nvPr>
            <p:ph idx="1"/>
          </p:nvPr>
        </p:nvSpPr>
        <p:spPr>
          <a:xfrm>
            <a:off x="1424539" y="1520792"/>
            <a:ext cx="9365381" cy="5130265"/>
          </a:xfrm>
        </p:spPr>
        <p:txBody>
          <a:bodyPr>
            <a:normAutofit/>
          </a:bodyPr>
          <a:lstStyle/>
          <a:p>
            <a:pPr marL="0" indent="0" algn="just">
              <a:buNone/>
            </a:pPr>
            <a:r>
              <a:rPr lang="en-US" sz="2300" b="1" dirty="0">
                <a:latin typeface="Arial" panose="020B0604020202020204" pitchFamily="34" charset="0"/>
                <a:cs typeface="Arial" panose="020B0604020202020204" pitchFamily="34" charset="0"/>
              </a:rPr>
              <a:t>Autoencoder Structure:</a:t>
            </a:r>
          </a:p>
          <a:p>
            <a:pPr marL="0" indent="0" algn="just">
              <a:buNone/>
            </a:pPr>
            <a:r>
              <a:rPr lang="en-US" b="1" dirty="0">
                <a:latin typeface="Arial" panose="020B0604020202020204" pitchFamily="34" charset="0"/>
                <a:cs typeface="Arial" panose="020B0604020202020204" pitchFamily="34" charset="0"/>
              </a:rPr>
              <a:t>Encoder Path </a:t>
            </a:r>
            <a:r>
              <a:rPr lang="en-US" dirty="0">
                <a:latin typeface="Arial" panose="020B0604020202020204" pitchFamily="34" charset="0"/>
                <a:cs typeface="Arial" panose="020B0604020202020204" pitchFamily="34" charset="0"/>
              </a:rPr>
              <a:t>(dimensionality reduction): </a:t>
            </a:r>
          </a:p>
          <a:p>
            <a:pPr algn="just"/>
            <a:r>
              <a:rPr lang="en-US" dirty="0">
                <a:latin typeface="Arial" panose="020B0604020202020204" pitchFamily="34" charset="0"/>
                <a:cs typeface="Arial" panose="020B0604020202020204" pitchFamily="34" charset="0"/>
              </a:rPr>
              <a:t>First dense layer: 256 neurons with ELU activation and batch normalization.</a:t>
            </a:r>
          </a:p>
          <a:p>
            <a:pPr algn="just"/>
            <a:r>
              <a:rPr lang="en-US" dirty="0">
                <a:latin typeface="Arial" panose="020B0604020202020204" pitchFamily="34" charset="0"/>
                <a:cs typeface="Arial" panose="020B0604020202020204" pitchFamily="34" charset="0"/>
              </a:rPr>
              <a:t>Dropout layer (Dropout rate=0.1) for regularization to prevent overfitting.</a:t>
            </a:r>
          </a:p>
          <a:p>
            <a:pPr algn="just"/>
            <a:r>
              <a:rPr lang="en-US" dirty="0">
                <a:latin typeface="Arial" panose="020B0604020202020204" pitchFamily="34" charset="0"/>
                <a:cs typeface="Arial" panose="020B0604020202020204" pitchFamily="34" charset="0"/>
              </a:rPr>
              <a:t>Second dense layer: 128 neurons with ELU activation and batch normalization.</a:t>
            </a:r>
          </a:p>
          <a:p>
            <a:pPr algn="just"/>
            <a:r>
              <a:rPr lang="en-US" dirty="0">
                <a:latin typeface="Arial" panose="020B0604020202020204" pitchFamily="34" charset="0"/>
                <a:cs typeface="Arial" panose="020B0604020202020204" pitchFamily="34" charset="0"/>
              </a:rPr>
              <a:t>Third dense layer: 64 neurons with ELU activation and batch normalization.</a:t>
            </a:r>
          </a:p>
          <a:p>
            <a:pPr algn="just"/>
            <a:endParaRPr lang="en-US" dirty="0">
              <a:latin typeface="Arial" panose="020B0604020202020204" pitchFamily="34" charset="0"/>
              <a:cs typeface="Arial" panose="020B0604020202020204" pitchFamily="34" charset="0"/>
            </a:endParaRPr>
          </a:p>
          <a:p>
            <a:pPr marL="0" indent="0" algn="just">
              <a:buNone/>
            </a:pPr>
            <a:r>
              <a:rPr lang="en-US" b="1" dirty="0">
                <a:latin typeface="Arial" panose="020B0604020202020204" pitchFamily="34" charset="0"/>
                <a:cs typeface="Arial" panose="020B0604020202020204" pitchFamily="34" charset="0"/>
              </a:rPr>
              <a:t>Bottleneck Layer</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32 neurons with ReLU activation.</a:t>
            </a:r>
          </a:p>
          <a:p>
            <a:pPr algn="just"/>
            <a:r>
              <a:rPr lang="en-US" dirty="0">
                <a:latin typeface="Arial" panose="020B0604020202020204" pitchFamily="34" charset="0"/>
                <a:cs typeface="Arial" panose="020B0604020202020204" pitchFamily="34" charset="0"/>
              </a:rPr>
              <a:t>Represents the compressed representation (74.4% reduction from original 125 dimensions).</a:t>
            </a:r>
          </a:p>
          <a:p>
            <a:pPr algn="just"/>
            <a:r>
              <a:rPr lang="en-US" dirty="0">
                <a:latin typeface="Arial" panose="020B0604020202020204" pitchFamily="34" charset="0"/>
                <a:cs typeface="Arial" panose="020B0604020202020204" pitchFamily="34" charset="0"/>
              </a:rPr>
              <a:t>Functions as a "noise separation manifold" to separate signal from noise.</a:t>
            </a:r>
          </a:p>
        </p:txBody>
      </p:sp>
    </p:spTree>
    <p:extLst>
      <p:ext uri="{BB962C8B-B14F-4D97-AF65-F5344CB8AC3E}">
        <p14:creationId xmlns:p14="http://schemas.microsoft.com/office/powerpoint/2010/main" val="2966481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Autofit/>
          </a:bodyPr>
          <a:lstStyle/>
          <a:p>
            <a:r>
              <a:rPr lang="en-US" sz="2500" b="1" dirty="0">
                <a:latin typeface="Arial" panose="020B0604020202020204" pitchFamily="34" charset="0"/>
                <a:cs typeface="Arial" panose="020B0604020202020204" pitchFamily="34" charset="0"/>
              </a:rPr>
              <a:t>D</a:t>
            </a:r>
            <a:r>
              <a:rPr lang="en-IN" sz="2500" b="1" dirty="0">
                <a:latin typeface="Arial" panose="020B0604020202020204" pitchFamily="34" charset="0"/>
                <a:cs typeface="Arial" panose="020B0604020202020204" pitchFamily="34" charset="0"/>
              </a:rPr>
              <a:t>AE architecture for PET Image denoising</a:t>
            </a:r>
          </a:p>
        </p:txBody>
      </p:sp>
      <p:sp>
        <p:nvSpPr>
          <p:cNvPr id="3" name="Content Placeholder 2"/>
          <p:cNvSpPr>
            <a:spLocks noGrp="1"/>
          </p:cNvSpPr>
          <p:nvPr>
            <p:ph idx="1"/>
          </p:nvPr>
        </p:nvSpPr>
        <p:spPr>
          <a:xfrm>
            <a:off x="1424539" y="1520792"/>
            <a:ext cx="9365381" cy="5130265"/>
          </a:xfrm>
        </p:spPr>
        <p:txBody>
          <a:bodyPr>
            <a:normAutofit/>
          </a:bodyPr>
          <a:lstStyle/>
          <a:p>
            <a:pPr marL="0" indent="0" algn="just">
              <a:buNone/>
            </a:pPr>
            <a:r>
              <a:rPr lang="en-US" sz="2300" b="1" dirty="0">
                <a:latin typeface="Arial" panose="020B0604020202020204" pitchFamily="34" charset="0"/>
                <a:cs typeface="Arial" panose="020B0604020202020204" pitchFamily="34" charset="0"/>
              </a:rPr>
              <a:t>Autoencoder Structure:</a:t>
            </a:r>
          </a:p>
          <a:p>
            <a:pPr marL="0" indent="0" algn="just">
              <a:buNone/>
            </a:pPr>
            <a:r>
              <a:rPr lang="en-US" b="1" dirty="0">
                <a:latin typeface="Arial" panose="020B0604020202020204" pitchFamily="34" charset="0"/>
                <a:cs typeface="Arial" panose="020B0604020202020204" pitchFamily="34" charset="0"/>
              </a:rPr>
              <a:t>Decoder Path </a:t>
            </a:r>
            <a:r>
              <a:rPr lang="en-US" dirty="0">
                <a:latin typeface="Arial" panose="020B0604020202020204" pitchFamily="34" charset="0"/>
                <a:cs typeface="Arial" panose="020B0604020202020204" pitchFamily="34" charset="0"/>
              </a:rPr>
              <a:t>(reconstruction): </a:t>
            </a:r>
          </a:p>
          <a:p>
            <a:pPr algn="just"/>
            <a:r>
              <a:rPr lang="en-US" dirty="0">
                <a:latin typeface="Arial" panose="020B0604020202020204" pitchFamily="34" charset="0"/>
                <a:cs typeface="Arial" panose="020B0604020202020204" pitchFamily="34" charset="0"/>
              </a:rPr>
              <a:t>Mirror of the encoder with gradually increasing dimensions.</a:t>
            </a:r>
          </a:p>
          <a:p>
            <a:pPr algn="just"/>
            <a:r>
              <a:rPr lang="en-US" dirty="0">
                <a:latin typeface="Arial" panose="020B0604020202020204" pitchFamily="34" charset="0"/>
                <a:cs typeface="Arial" panose="020B0604020202020204" pitchFamily="34" charset="0"/>
              </a:rPr>
              <a:t>Dense layers with 64, 128, and 256 neurons.</a:t>
            </a:r>
          </a:p>
          <a:p>
            <a:pPr algn="just"/>
            <a:r>
              <a:rPr lang="en-US" dirty="0">
                <a:latin typeface="Arial" panose="020B0604020202020204" pitchFamily="34" charset="0"/>
                <a:cs typeface="Arial" panose="020B0604020202020204" pitchFamily="34" charset="0"/>
              </a:rPr>
              <a:t>Each layer uses ELU activation with batch normalization.</a:t>
            </a:r>
          </a:p>
          <a:p>
            <a:pPr algn="just"/>
            <a:r>
              <a:rPr lang="en-US" dirty="0">
                <a:latin typeface="Arial" panose="020B0604020202020204" pitchFamily="34" charset="0"/>
                <a:cs typeface="Arial" panose="020B0604020202020204" pitchFamily="34" charset="0"/>
              </a:rPr>
              <a:t>Final output layer: 125 neurons with sigmoid activation to reconstruct the original patch.</a:t>
            </a:r>
          </a:p>
          <a:p>
            <a:pPr marL="0" indent="0" algn="just">
              <a:buNone/>
            </a:pPr>
            <a:r>
              <a:rPr lang="en-US" b="1" dirty="0">
                <a:latin typeface="Arial" panose="020B0604020202020204" pitchFamily="34" charset="0"/>
                <a:cs typeface="Arial" panose="020B0604020202020204" pitchFamily="34" charset="0"/>
              </a:rPr>
              <a:t>Training Specifications</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Loss function: Mean Squared Error between original clean patches and denoised outputs.</a:t>
            </a:r>
          </a:p>
          <a:p>
            <a:pPr algn="just"/>
            <a:r>
              <a:rPr lang="en-US" dirty="0">
                <a:latin typeface="Arial" panose="020B0604020202020204" pitchFamily="34" charset="0"/>
                <a:cs typeface="Arial" panose="020B0604020202020204" pitchFamily="34" charset="0"/>
              </a:rPr>
              <a:t>Optimization: Adam optimizer with learning rate of 0.001.</a:t>
            </a:r>
          </a:p>
          <a:p>
            <a:pPr algn="just"/>
            <a:r>
              <a:rPr lang="en-US" dirty="0">
                <a:latin typeface="Arial" panose="020B0604020202020204" pitchFamily="34" charset="0"/>
                <a:cs typeface="Arial" panose="020B0604020202020204" pitchFamily="34" charset="0"/>
              </a:rPr>
              <a:t>Training/Validation Split: 80%/20%.</a:t>
            </a:r>
          </a:p>
          <a:p>
            <a:pPr algn="just"/>
            <a:r>
              <a:rPr lang="en-US" dirty="0">
                <a:latin typeface="Arial" panose="020B0604020202020204" pitchFamily="34" charset="0"/>
                <a:cs typeface="Arial" panose="020B0604020202020204" pitchFamily="34" charset="0"/>
              </a:rPr>
              <a:t>Early stopping with patience of 10 epochs to prevent overfitting.</a:t>
            </a:r>
          </a:p>
          <a:p>
            <a:pPr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8411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0158" y="1749778"/>
            <a:ext cx="7729728" cy="5108222"/>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IN" dirty="0"/>
          </a:p>
        </p:txBody>
      </p:sp>
      <p:pic>
        <p:nvPicPr>
          <p:cNvPr id="5" name="Picture 4">
            <a:extLst>
              <a:ext uri="{FF2B5EF4-FFF2-40B4-BE49-F238E27FC236}">
                <a16:creationId xmlns:a16="http://schemas.microsoft.com/office/drawing/2014/main" id="{C7068B78-DAAC-4462-9E53-48B40D77A4CE}"/>
              </a:ext>
            </a:extLst>
          </p:cNvPr>
          <p:cNvPicPr>
            <a:picLocks noChangeAspect="1"/>
          </p:cNvPicPr>
          <p:nvPr/>
        </p:nvPicPr>
        <p:blipFill>
          <a:blip r:embed="rId2"/>
          <a:stretch>
            <a:fillRect/>
          </a:stretch>
        </p:blipFill>
        <p:spPr>
          <a:xfrm>
            <a:off x="993680" y="563494"/>
            <a:ext cx="10204640" cy="5731011"/>
          </a:xfrm>
          <a:prstGeom prst="rect">
            <a:avLst/>
          </a:prstGeom>
        </p:spPr>
      </p:pic>
    </p:spTree>
    <p:extLst>
      <p:ext uri="{BB962C8B-B14F-4D97-AF65-F5344CB8AC3E}">
        <p14:creationId xmlns:p14="http://schemas.microsoft.com/office/powerpoint/2010/main" val="1599078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Autofit/>
          </a:bodyPr>
          <a:lstStyle/>
          <a:p>
            <a:r>
              <a:rPr lang="en-US" sz="3200" b="1" dirty="0">
                <a:latin typeface="Arial" panose="020B0604020202020204" pitchFamily="34" charset="0"/>
                <a:cs typeface="Arial" panose="020B0604020202020204" pitchFamily="34" charset="0"/>
              </a:rPr>
              <a:t>WORKFLOW PROCESS</a:t>
            </a:r>
            <a:endParaRPr lang="en-IN" sz="32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24539" y="1520792"/>
            <a:ext cx="9365381" cy="5130265"/>
          </a:xfrm>
        </p:spPr>
        <p:txBody>
          <a:bodyPr>
            <a:normAutofit/>
          </a:bodyPr>
          <a:lstStyle/>
          <a:p>
            <a:pPr marL="0" indent="0" algn="just">
              <a:buNone/>
            </a:pPr>
            <a:r>
              <a:rPr lang="en-US" b="1" dirty="0">
                <a:latin typeface="Arial" panose="020B0604020202020204" pitchFamily="34" charset="0"/>
                <a:cs typeface="Arial" panose="020B0604020202020204" pitchFamily="34" charset="0"/>
              </a:rPr>
              <a:t>Data Preparation:</a:t>
            </a:r>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Original PET volumes (192x192 pixels) are normalized to 0-1 range.</a:t>
            </a:r>
          </a:p>
          <a:p>
            <a:pPr algn="just"/>
            <a:r>
              <a:rPr lang="en-US" dirty="0">
                <a:latin typeface="Arial" panose="020B0604020202020204" pitchFamily="34" charset="0"/>
                <a:cs typeface="Arial" panose="020B0604020202020204" pitchFamily="34" charset="0"/>
              </a:rPr>
              <a:t>Synthetic noise (Ex: Poisson with SNR=5) is added to simulate low-dose acquisition.</a:t>
            </a:r>
          </a:p>
          <a:p>
            <a:pPr algn="just"/>
            <a:r>
              <a:rPr lang="en-US" dirty="0">
                <a:latin typeface="Arial" panose="020B0604020202020204" pitchFamily="34" charset="0"/>
                <a:cs typeface="Arial" panose="020B0604020202020204" pitchFamily="34" charset="0"/>
              </a:rPr>
              <a:t>3D patches are extracted from both clean and noisy volumes.</a:t>
            </a:r>
          </a:p>
          <a:p>
            <a:pPr marL="0" indent="0" algn="just">
              <a:buNone/>
            </a:pPr>
            <a:r>
              <a:rPr lang="en-US" b="1" dirty="0">
                <a:latin typeface="Arial" panose="020B0604020202020204" pitchFamily="34" charset="0"/>
                <a:cs typeface="Arial" panose="020B0604020202020204" pitchFamily="34" charset="0"/>
              </a:rPr>
              <a:t>Training Phase</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The network learns to map noisy patches to their clean counterparts.</a:t>
            </a:r>
          </a:p>
          <a:p>
            <a:pPr algn="just"/>
            <a:r>
              <a:rPr lang="en-US" dirty="0">
                <a:latin typeface="Arial" panose="020B0604020202020204" pitchFamily="34" charset="0"/>
                <a:cs typeface="Arial" panose="020B0604020202020204" pitchFamily="34" charset="0"/>
              </a:rPr>
              <a:t>The model is trained to minimize the difference between denoised output and original clean patches.</a:t>
            </a:r>
          </a:p>
          <a:p>
            <a:pPr marL="0" indent="0" algn="just">
              <a:buNone/>
            </a:pPr>
            <a:r>
              <a:rPr lang="en-US" b="1" dirty="0">
                <a:latin typeface="Arial" panose="020B0604020202020204" pitchFamily="34" charset="0"/>
                <a:cs typeface="Arial" panose="020B0604020202020204" pitchFamily="34" charset="0"/>
              </a:rPr>
              <a:t>Denoising Application</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For new noisy images, overlapping patches are extracted. Each patch is processed through the trained network.</a:t>
            </a:r>
          </a:p>
          <a:p>
            <a:pPr algn="just"/>
            <a:r>
              <a:rPr lang="en-US" dirty="0">
                <a:latin typeface="Arial" panose="020B0604020202020204" pitchFamily="34" charset="0"/>
                <a:cs typeface="Arial" panose="020B0604020202020204" pitchFamily="34" charset="0"/>
              </a:rPr>
              <a:t>Denoised patches are placed back into their original positions. Overlapping regions are averaged to create the final denoised volume.</a:t>
            </a:r>
          </a:p>
          <a:p>
            <a:pPr marL="0" indent="0" algn="just">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7947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Autofit/>
          </a:bodyPr>
          <a:lstStyle/>
          <a:p>
            <a:r>
              <a:rPr lang="en-US" sz="3200" b="1" dirty="0">
                <a:latin typeface="Arial" panose="020B0604020202020204" pitchFamily="34" charset="0"/>
                <a:cs typeface="Arial" panose="020B0604020202020204" pitchFamily="34" charset="0"/>
              </a:rPr>
              <a:t>WORKFLOW PROCESS</a:t>
            </a:r>
            <a:endParaRPr lang="en-IN" sz="32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24539" y="2501867"/>
            <a:ext cx="9365381" cy="5130265"/>
          </a:xfrm>
        </p:spPr>
        <p:txBody>
          <a:bodyPr>
            <a:normAutofit/>
          </a:bodyPr>
          <a:lstStyle/>
          <a:p>
            <a:pPr marL="0" indent="0" algn="just">
              <a:buNone/>
            </a:pPr>
            <a:r>
              <a:rPr lang="en-US" b="1" dirty="0">
                <a:latin typeface="Arial" panose="020B0604020202020204" pitchFamily="34" charset="0"/>
                <a:cs typeface="Arial" panose="020B0604020202020204" pitchFamily="34" charset="0"/>
              </a:rPr>
              <a:t>Evaluation:</a:t>
            </a:r>
          </a:p>
          <a:p>
            <a:pPr algn="just"/>
            <a:r>
              <a:rPr lang="en-US" dirty="0">
                <a:latin typeface="Arial" panose="020B0604020202020204" pitchFamily="34" charset="0"/>
                <a:cs typeface="Arial" panose="020B0604020202020204" pitchFamily="34" charset="0"/>
              </a:rPr>
              <a:t>Performance is measured using MSE, PSNR, SSIM and Brisque metrics.</a:t>
            </a:r>
          </a:p>
          <a:p>
            <a:pPr algn="just"/>
            <a:r>
              <a:rPr lang="en-US" dirty="0">
                <a:latin typeface="Arial" panose="020B0604020202020204" pitchFamily="34" charset="0"/>
                <a:cs typeface="Arial" panose="020B0604020202020204" pitchFamily="34" charset="0"/>
              </a:rPr>
              <a:t>Visual comparisons are generated for axial, coronal, and sagittal views.</a:t>
            </a:r>
          </a:p>
        </p:txBody>
      </p:sp>
    </p:spTree>
    <p:extLst>
      <p:ext uri="{BB962C8B-B14F-4D97-AF65-F5344CB8AC3E}">
        <p14:creationId xmlns:p14="http://schemas.microsoft.com/office/powerpoint/2010/main" val="788173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rmAutofit/>
          </a:bodyPr>
          <a:lstStyle/>
          <a:p>
            <a:r>
              <a:rPr lang="en-US" sz="3600" b="1" dirty="0">
                <a:latin typeface="Arial" panose="020B0604020202020204" pitchFamily="34" charset="0"/>
                <a:cs typeface="Arial" panose="020B0604020202020204" pitchFamily="34" charset="0"/>
              </a:rPr>
              <a:t>Noise modeling in pet imaging</a:t>
            </a:r>
            <a:endParaRPr lang="en-IN" sz="36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13309" y="1543049"/>
            <a:ext cx="9365381" cy="4933951"/>
          </a:xfrm>
        </p:spPr>
        <p:txBody>
          <a:bodyPr>
            <a:normAutofit lnSpcReduction="10000"/>
          </a:bodyPr>
          <a:lstStyle/>
          <a:p>
            <a:pPr marL="0" indent="0" algn="just">
              <a:buNone/>
            </a:pPr>
            <a:r>
              <a:rPr lang="en-US" b="1" dirty="0">
                <a:latin typeface="Arial" panose="020B0604020202020204" pitchFamily="34" charset="0"/>
                <a:cs typeface="Arial" panose="020B0604020202020204" pitchFamily="34" charset="0"/>
              </a:rPr>
              <a:t>Poisson Noise:</a:t>
            </a:r>
          </a:p>
          <a:p>
            <a:r>
              <a:rPr lang="en-US" dirty="0">
                <a:latin typeface="Arial" panose="020B0604020202020204" pitchFamily="34" charset="0"/>
                <a:cs typeface="Arial" panose="020B0604020202020204" pitchFamily="34" charset="0"/>
              </a:rPr>
              <a:t>Inherent to PET imaging due to quantum nature of photon detection and radioactive decay.</a:t>
            </a:r>
          </a:p>
          <a:p>
            <a:r>
              <a:rPr lang="en-US" dirty="0">
                <a:latin typeface="Arial" panose="020B0604020202020204" pitchFamily="34" charset="0"/>
                <a:cs typeface="Arial" panose="020B0604020202020204" pitchFamily="34" charset="0"/>
              </a:rPr>
              <a:t>Formula: P(X = k) = (</a:t>
            </a:r>
            <a:r>
              <a:rPr lang="en-US" dirty="0" err="1">
                <a:latin typeface="Arial" panose="020B0604020202020204" pitchFamily="34" charset="0"/>
                <a:cs typeface="Arial" panose="020B0604020202020204" pitchFamily="34" charset="0"/>
              </a:rPr>
              <a:t>λᵏe</a:t>
            </a:r>
            <a:r>
              <a:rPr lang="en-US" dirty="0">
                <a:latin typeface="Arial" panose="020B0604020202020204" pitchFamily="34" charset="0"/>
                <a:cs typeface="Arial" panose="020B0604020202020204" pitchFamily="34" charset="0"/>
              </a:rPr>
              <a:t>^- λ)/k! where λ represents expected count rate.</a:t>
            </a:r>
          </a:p>
          <a:p>
            <a:r>
              <a:rPr lang="en-US" dirty="0">
                <a:latin typeface="Arial" panose="020B0604020202020204" pitchFamily="34" charset="0"/>
                <a:cs typeface="Arial" panose="020B0604020202020204" pitchFamily="34" charset="0"/>
              </a:rPr>
              <a:t>Implementation : </a:t>
            </a:r>
            <a:r>
              <a:rPr lang="en-US" altLang="en-US" dirty="0">
                <a:solidFill>
                  <a:schemeClr val="tx1"/>
                </a:solidFill>
                <a:latin typeface="Arial" panose="020B0604020202020204" pitchFamily="34" charset="0"/>
                <a:cs typeface="Arial" panose="020B0604020202020204" pitchFamily="34" charset="0"/>
              </a:rPr>
              <a:t>noisy_data = </a:t>
            </a:r>
            <a:r>
              <a:rPr lang="en-US" altLang="en-US" dirty="0" err="1">
                <a:solidFill>
                  <a:schemeClr val="tx1"/>
                </a:solidFill>
                <a:latin typeface="Arial" panose="020B0604020202020204" pitchFamily="34" charset="0"/>
                <a:cs typeface="Arial" panose="020B0604020202020204" pitchFamily="34" charset="0"/>
              </a:rPr>
              <a:t>np.random.poisson</a:t>
            </a:r>
            <a:r>
              <a:rPr lang="en-US" altLang="en-US" dirty="0">
                <a:solidFill>
                  <a:schemeClr val="tx1"/>
                </a:solidFill>
                <a:latin typeface="Arial" panose="020B0604020202020204" pitchFamily="34" charset="0"/>
                <a:cs typeface="Arial" panose="020B0604020202020204" pitchFamily="34" charset="0"/>
              </a:rPr>
              <a:t>(clean_data * snr) / snr with SNR=5.</a:t>
            </a:r>
          </a:p>
          <a:p>
            <a:r>
              <a:rPr lang="en-US" dirty="0">
                <a:latin typeface="Arial" panose="020B0604020202020204" pitchFamily="34" charset="0"/>
                <a:cs typeface="Arial" panose="020B0604020202020204" pitchFamily="34" charset="0"/>
              </a:rPr>
              <a:t>Particularly prominent in low-dose PET or short acquisition times.</a:t>
            </a:r>
          </a:p>
          <a:p>
            <a:pPr marL="0" indent="0">
              <a:buNone/>
            </a:pPr>
            <a:endParaRPr lang="en-US" dirty="0">
              <a:latin typeface="Arial" panose="020B0604020202020204" pitchFamily="34" charset="0"/>
              <a:cs typeface="Arial" panose="020B0604020202020204" pitchFamily="34" charset="0"/>
            </a:endParaRPr>
          </a:p>
          <a:p>
            <a:pPr marL="0" indent="0" algn="just">
              <a:buNone/>
            </a:pPr>
            <a:r>
              <a:rPr lang="en-US" b="1" dirty="0">
                <a:latin typeface="Arial" panose="020B0604020202020204" pitchFamily="34" charset="0"/>
                <a:cs typeface="Arial" panose="020B0604020202020204" pitchFamily="34" charset="0"/>
              </a:rPr>
              <a:t>Gaussian Noise:</a:t>
            </a:r>
          </a:p>
          <a:p>
            <a:r>
              <a:rPr lang="en-US" dirty="0">
                <a:latin typeface="Arial" panose="020B0604020202020204" pitchFamily="34" charset="0"/>
                <a:cs typeface="Arial" panose="020B0604020202020204" pitchFamily="34" charset="0"/>
              </a:rPr>
              <a:t>Additive white noise following normal distribution that approximates electronic noise from detector systems.</a:t>
            </a:r>
          </a:p>
          <a:p>
            <a:r>
              <a:rPr lang="en-US" dirty="0">
                <a:latin typeface="Arial" panose="020B0604020202020204" pitchFamily="34" charset="0"/>
                <a:cs typeface="Arial" panose="020B0604020202020204" pitchFamily="34" charset="0"/>
              </a:rPr>
              <a:t>Formula: f(x) = (1/(</a:t>
            </a:r>
            <a:r>
              <a:rPr lang="el-GR" dirty="0">
                <a:latin typeface="Arial" panose="020B0604020202020204" pitchFamily="34" charset="0"/>
                <a:cs typeface="Arial" panose="020B0604020202020204" pitchFamily="34" charset="0"/>
              </a:rPr>
              <a:t>σ√2π))</a:t>
            </a:r>
            <a:r>
              <a:rPr lang="en-US" dirty="0">
                <a:latin typeface="Arial" panose="020B0604020202020204" pitchFamily="34" charset="0"/>
                <a:cs typeface="Arial" panose="020B0604020202020204" pitchFamily="34" charset="0"/>
              </a:rPr>
              <a:t>e^(-(x-</a:t>
            </a:r>
            <a:r>
              <a:rPr lang="el-GR" dirty="0">
                <a:latin typeface="Arial" panose="020B0604020202020204" pitchFamily="34" charset="0"/>
                <a:cs typeface="Arial" panose="020B0604020202020204" pitchFamily="34" charset="0"/>
              </a:rPr>
              <a:t>μ)²/2σ²) </a:t>
            </a:r>
            <a:r>
              <a:rPr lang="en-US" dirty="0">
                <a:latin typeface="Arial" panose="020B0604020202020204" pitchFamily="34" charset="0"/>
                <a:cs typeface="Arial" panose="020B0604020202020204" pitchFamily="34" charset="0"/>
              </a:rPr>
              <a:t>where </a:t>
            </a:r>
            <a:r>
              <a:rPr lang="el-GR" dirty="0">
                <a:latin typeface="Arial" panose="020B0604020202020204" pitchFamily="34" charset="0"/>
                <a:cs typeface="Arial" panose="020B0604020202020204" pitchFamily="34" charset="0"/>
              </a:rPr>
              <a:t>μ=0.0 </a:t>
            </a:r>
            <a:r>
              <a:rPr lang="en-US" dirty="0">
                <a:latin typeface="Arial" panose="020B0604020202020204" pitchFamily="34" charset="0"/>
                <a:cs typeface="Arial" panose="020B0604020202020204" pitchFamily="34" charset="0"/>
              </a:rPr>
              <a:t>and </a:t>
            </a:r>
            <a:r>
              <a:rPr lang="el-GR" dirty="0">
                <a:latin typeface="Arial" panose="020B0604020202020204" pitchFamily="34" charset="0"/>
                <a:cs typeface="Arial" panose="020B0604020202020204" pitchFamily="34" charset="0"/>
              </a:rPr>
              <a:t>σ=0.05</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Implementation: noisy_data = clean_data + </a:t>
            </a:r>
            <a:r>
              <a:rPr lang="en-US" dirty="0" err="1">
                <a:latin typeface="Arial" panose="020B0604020202020204" pitchFamily="34" charset="0"/>
                <a:cs typeface="Arial" panose="020B0604020202020204" pitchFamily="34" charset="0"/>
              </a:rPr>
              <a:t>np.random.normal</a:t>
            </a:r>
            <a:r>
              <a:rPr lang="en-US" dirty="0">
                <a:latin typeface="Arial" panose="020B0604020202020204" pitchFamily="34" charset="0"/>
                <a:cs typeface="Arial" panose="020B0604020202020204" pitchFamily="34" charset="0"/>
              </a:rPr>
              <a:t>(mean, std, </a:t>
            </a:r>
            <a:r>
              <a:rPr lang="en-US" dirty="0" err="1">
                <a:latin typeface="Arial" panose="020B0604020202020204" pitchFamily="34" charset="0"/>
                <a:cs typeface="Arial" panose="020B0604020202020204" pitchFamily="34" charset="0"/>
              </a:rPr>
              <a:t>clean_data.shape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Noise is more significant in areas of low signal intensity, affecting lesion detectability</a:t>
            </a:r>
          </a:p>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6227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rmAutofit/>
          </a:bodyPr>
          <a:lstStyle/>
          <a:p>
            <a:r>
              <a:rPr lang="en-US" sz="3600" b="1" dirty="0">
                <a:latin typeface="Arial" panose="020B0604020202020204" pitchFamily="34" charset="0"/>
                <a:cs typeface="Arial" panose="020B0604020202020204" pitchFamily="34" charset="0"/>
              </a:rPr>
              <a:t>Noise modeling in pet imaging</a:t>
            </a:r>
            <a:endParaRPr lang="en-IN" sz="36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13309" y="1543049"/>
            <a:ext cx="9365381" cy="4505325"/>
          </a:xfrm>
        </p:spPr>
        <p:txBody>
          <a:bodyPr>
            <a:normAutofit/>
          </a:bodyPr>
          <a:lstStyle/>
          <a:p>
            <a:pPr marL="0" indent="0" algn="just">
              <a:buNone/>
            </a:pPr>
            <a:r>
              <a:rPr lang="en-US" b="1" dirty="0">
                <a:latin typeface="Arial" panose="020B0604020202020204" pitchFamily="34" charset="0"/>
                <a:cs typeface="Arial" panose="020B0604020202020204" pitchFamily="34" charset="0"/>
              </a:rPr>
              <a:t>Motion Artifacts:</a:t>
            </a:r>
          </a:p>
          <a:p>
            <a:r>
              <a:rPr lang="en-US" dirty="0">
                <a:latin typeface="Arial" panose="020B0604020202020204" pitchFamily="34" charset="0"/>
                <a:cs typeface="Arial" panose="020B0604020202020204" pitchFamily="34" charset="0"/>
              </a:rPr>
              <a:t>Result from patient movement during the relatively long PET acquisition period (15-30 mins)</a:t>
            </a:r>
          </a:p>
          <a:p>
            <a:r>
              <a:rPr lang="en-US" dirty="0">
                <a:latin typeface="Arial" panose="020B0604020202020204" pitchFamily="34" charset="0"/>
                <a:cs typeface="Arial" panose="020B0604020202020204" pitchFamily="34" charset="0"/>
              </a:rPr>
              <a:t>Formula: I'(</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 = I(</a:t>
            </a:r>
            <a:r>
              <a:rPr lang="en-US" dirty="0" err="1">
                <a:latin typeface="Arial" panose="020B0604020202020204" pitchFamily="34" charset="0"/>
                <a:cs typeface="Arial" panose="020B0604020202020204" pitchFamily="34" charset="0"/>
              </a:rPr>
              <a:t>x+Δx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y+Δy</a:t>
            </a:r>
            <a:r>
              <a:rPr lang="en-US" dirty="0">
                <a:latin typeface="Arial" panose="020B0604020202020204" pitchFamily="34" charset="0"/>
                <a:cs typeface="Arial" panose="020B0604020202020204" pitchFamily="34" charset="0"/>
              </a:rPr>
              <a:t>, z) with random shifts applied to selected slices.</a:t>
            </a:r>
          </a:p>
          <a:p>
            <a:r>
              <a:rPr lang="en-US" dirty="0">
                <a:latin typeface="Arial" panose="020B0604020202020204" pitchFamily="34" charset="0"/>
                <a:cs typeface="Arial" panose="020B0604020202020204" pitchFamily="34" charset="0"/>
              </a:rPr>
              <a:t>Implementation: Uses </a:t>
            </a:r>
            <a:r>
              <a:rPr lang="en-US" dirty="0" err="1">
                <a:latin typeface="Arial" panose="020B0604020202020204" pitchFamily="34" charset="0"/>
                <a:cs typeface="Arial" panose="020B0604020202020204" pitchFamily="34" charset="0"/>
              </a:rPr>
              <a:t>scipy.ndimage.shift</a:t>
            </a:r>
            <a:r>
              <a:rPr lang="en-US" dirty="0">
                <a:latin typeface="Arial" panose="020B0604020202020204" pitchFamily="34" charset="0"/>
                <a:cs typeface="Arial" panose="020B0604020202020204" pitchFamily="34" charset="0"/>
              </a:rPr>
              <a:t>() with 20% probability per slice and </a:t>
            </a:r>
            <a:r>
              <a:rPr lang="en-US" dirty="0" err="1">
                <a:latin typeface="Arial" panose="020B0604020202020204" pitchFamily="34" charset="0"/>
                <a:cs typeface="Arial" panose="020B0604020202020204" pitchFamily="34" charset="0"/>
              </a:rPr>
              <a:t>max_shift</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Realistically simulates patient movement by introducing discontinuities between adjacent slices, particularly relevant for lengthy PET acquisitions.</a:t>
            </a: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4076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90" y="298383"/>
            <a:ext cx="10681735" cy="866274"/>
          </a:xfrm>
        </p:spPr>
        <p:txBody>
          <a:bodyPr>
            <a:normAutofit/>
          </a:bodyPr>
          <a:lstStyle/>
          <a:p>
            <a:r>
              <a:rPr lang="en-US" sz="3600" b="1" dirty="0">
                <a:latin typeface="Arial" panose="020B0604020202020204" pitchFamily="34" charset="0"/>
                <a:cs typeface="Arial" panose="020B0604020202020204" pitchFamily="34" charset="0"/>
              </a:rPr>
              <a:t>RESULTS OF DIFFERENT NOISE TYPES</a:t>
            </a:r>
            <a:endParaRPr lang="en-IN" sz="36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7CFDD3-8ABC-4968-BE1F-E6B65534BD06}"/>
              </a:ext>
            </a:extLst>
          </p:cNvPr>
          <p:cNvSpPr txBox="1"/>
          <p:nvPr/>
        </p:nvSpPr>
        <p:spPr>
          <a:xfrm>
            <a:off x="799631" y="6374951"/>
            <a:ext cx="10921151" cy="369332"/>
          </a:xfrm>
          <a:prstGeom prst="rect">
            <a:avLst/>
          </a:prstGeom>
          <a:noFill/>
        </p:spPr>
        <p:txBody>
          <a:bodyPr wrap="square" rtlCol="0">
            <a:spAutoFit/>
          </a:bodyPr>
          <a:lstStyle/>
          <a:p>
            <a:r>
              <a:rPr lang="en-IN" dirty="0"/>
              <a:t>                                                            Comparison of Slice2</a:t>
            </a:r>
          </a:p>
        </p:txBody>
      </p:sp>
      <p:pic>
        <p:nvPicPr>
          <p:cNvPr id="11" name="Content Placeholder 10">
            <a:extLst>
              <a:ext uri="{FF2B5EF4-FFF2-40B4-BE49-F238E27FC236}">
                <a16:creationId xmlns:a16="http://schemas.microsoft.com/office/drawing/2014/main" id="{55143E08-425C-4D5B-8E65-56498C75349C}"/>
              </a:ext>
            </a:extLst>
          </p:cNvPr>
          <p:cNvPicPr>
            <a:picLocks noGrp="1" noChangeAspect="1"/>
          </p:cNvPicPr>
          <p:nvPr>
            <p:ph idx="1"/>
          </p:nvPr>
        </p:nvPicPr>
        <p:blipFill>
          <a:blip r:embed="rId2"/>
          <a:stretch>
            <a:fillRect/>
          </a:stretch>
        </p:blipFill>
        <p:spPr>
          <a:xfrm>
            <a:off x="643490" y="1719275"/>
            <a:ext cx="5452510" cy="1919275"/>
          </a:xfrm>
        </p:spPr>
      </p:pic>
      <p:sp>
        <p:nvSpPr>
          <p:cNvPr id="6" name="TextBox 5">
            <a:extLst>
              <a:ext uri="{FF2B5EF4-FFF2-40B4-BE49-F238E27FC236}">
                <a16:creationId xmlns:a16="http://schemas.microsoft.com/office/drawing/2014/main" id="{2C4F4D26-BCC4-4DCC-A8FF-195C08A86824}"/>
              </a:ext>
            </a:extLst>
          </p:cNvPr>
          <p:cNvSpPr txBox="1"/>
          <p:nvPr/>
        </p:nvSpPr>
        <p:spPr>
          <a:xfrm>
            <a:off x="643489" y="1257300"/>
            <a:ext cx="557633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SLICES VIEW UNDER POISSON NOISE:</a:t>
            </a:r>
            <a:endParaRPr lang="en-IN" b="1"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006CCDC4-7414-4A73-9505-44B4AEF997D1}"/>
              </a:ext>
            </a:extLst>
          </p:cNvPr>
          <p:cNvPicPr>
            <a:picLocks noChangeAspect="1"/>
          </p:cNvPicPr>
          <p:nvPr/>
        </p:nvPicPr>
        <p:blipFill>
          <a:blip r:embed="rId3"/>
          <a:stretch>
            <a:fillRect/>
          </a:stretch>
        </p:blipFill>
        <p:spPr>
          <a:xfrm>
            <a:off x="6350079" y="1719274"/>
            <a:ext cx="5279946" cy="1919275"/>
          </a:xfrm>
          <a:prstGeom prst="rect">
            <a:avLst/>
          </a:prstGeom>
        </p:spPr>
      </p:pic>
      <p:pic>
        <p:nvPicPr>
          <p:cNvPr id="15" name="Picture 14">
            <a:extLst>
              <a:ext uri="{FF2B5EF4-FFF2-40B4-BE49-F238E27FC236}">
                <a16:creationId xmlns:a16="http://schemas.microsoft.com/office/drawing/2014/main" id="{06EB649B-6E6A-4D14-AD0F-E1A17DF27FFF}"/>
              </a:ext>
            </a:extLst>
          </p:cNvPr>
          <p:cNvPicPr>
            <a:picLocks noChangeAspect="1"/>
          </p:cNvPicPr>
          <p:nvPr/>
        </p:nvPicPr>
        <p:blipFill>
          <a:blip r:embed="rId4"/>
          <a:stretch>
            <a:fillRect/>
          </a:stretch>
        </p:blipFill>
        <p:spPr>
          <a:xfrm>
            <a:off x="3076576" y="4363032"/>
            <a:ext cx="5762624" cy="1760615"/>
          </a:xfrm>
          <a:prstGeom prst="rect">
            <a:avLst/>
          </a:prstGeom>
        </p:spPr>
      </p:pic>
      <p:sp>
        <p:nvSpPr>
          <p:cNvPr id="16" name="TextBox 15">
            <a:extLst>
              <a:ext uri="{FF2B5EF4-FFF2-40B4-BE49-F238E27FC236}">
                <a16:creationId xmlns:a16="http://schemas.microsoft.com/office/drawing/2014/main" id="{DFF16B8F-6CBC-48AF-9ADB-A458BC128396}"/>
              </a:ext>
            </a:extLst>
          </p:cNvPr>
          <p:cNvSpPr txBox="1"/>
          <p:nvPr/>
        </p:nvSpPr>
        <p:spPr>
          <a:xfrm>
            <a:off x="708874" y="3748813"/>
            <a:ext cx="10921151" cy="369332"/>
          </a:xfrm>
          <a:prstGeom prst="rect">
            <a:avLst/>
          </a:prstGeom>
          <a:noFill/>
        </p:spPr>
        <p:txBody>
          <a:bodyPr wrap="square" rtlCol="0">
            <a:spAutoFit/>
          </a:bodyPr>
          <a:lstStyle/>
          <a:p>
            <a:r>
              <a:rPr lang="en-IN" dirty="0"/>
              <a:t>                      </a:t>
            </a:r>
            <a:r>
              <a:rPr lang="en-IN" dirty="0">
                <a:latin typeface="Arial" panose="020B0604020202020204" pitchFamily="34" charset="0"/>
                <a:cs typeface="Arial" panose="020B0604020202020204" pitchFamily="34" charset="0"/>
              </a:rPr>
              <a:t>Comparison of Slice0                                                       Comparison of Slice1                        </a:t>
            </a:r>
          </a:p>
        </p:txBody>
      </p:sp>
    </p:spTree>
    <p:extLst>
      <p:ext uri="{BB962C8B-B14F-4D97-AF65-F5344CB8AC3E}">
        <p14:creationId xmlns:p14="http://schemas.microsoft.com/office/powerpoint/2010/main" val="3408872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90" y="298383"/>
            <a:ext cx="10681735" cy="866274"/>
          </a:xfrm>
        </p:spPr>
        <p:txBody>
          <a:bodyPr>
            <a:normAutofit/>
          </a:bodyPr>
          <a:lstStyle/>
          <a:p>
            <a:r>
              <a:rPr lang="en-US" sz="3600" b="1" dirty="0">
                <a:latin typeface="Arial" panose="020B0604020202020204" pitchFamily="34" charset="0"/>
                <a:cs typeface="Arial" panose="020B0604020202020204" pitchFamily="34" charset="0"/>
              </a:rPr>
              <a:t>RESULTS OF DIFFERENT NOISE TYPES</a:t>
            </a:r>
            <a:endParaRPr lang="en-IN" sz="36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7CFDD3-8ABC-4968-BE1F-E6B65534BD06}"/>
              </a:ext>
            </a:extLst>
          </p:cNvPr>
          <p:cNvSpPr txBox="1"/>
          <p:nvPr/>
        </p:nvSpPr>
        <p:spPr>
          <a:xfrm>
            <a:off x="799631" y="6374951"/>
            <a:ext cx="10921151" cy="369332"/>
          </a:xfrm>
          <a:prstGeom prst="rect">
            <a:avLst/>
          </a:prstGeom>
          <a:noFill/>
        </p:spPr>
        <p:txBody>
          <a:bodyPr wrap="square" rtlCol="0">
            <a:spAutoFit/>
          </a:bodyPr>
          <a:lstStyle/>
          <a:p>
            <a:r>
              <a:rPr lang="en-IN" dirty="0"/>
              <a:t>                                                            Comparison of Slice2</a:t>
            </a:r>
          </a:p>
        </p:txBody>
      </p:sp>
      <p:pic>
        <p:nvPicPr>
          <p:cNvPr id="11" name="Content Placeholder 10">
            <a:extLst>
              <a:ext uri="{FF2B5EF4-FFF2-40B4-BE49-F238E27FC236}">
                <a16:creationId xmlns:a16="http://schemas.microsoft.com/office/drawing/2014/main" id="{55143E08-425C-4D5B-8E65-56498C75349C}"/>
              </a:ext>
            </a:extLst>
          </p:cNvPr>
          <p:cNvPicPr>
            <a:picLocks noGrp="1" noChangeAspect="1"/>
          </p:cNvPicPr>
          <p:nvPr>
            <p:ph idx="1"/>
          </p:nvPr>
        </p:nvPicPr>
        <p:blipFill>
          <a:blip r:embed="rId2"/>
          <a:stretch>
            <a:fillRect/>
          </a:stretch>
        </p:blipFill>
        <p:spPr>
          <a:xfrm>
            <a:off x="643490" y="1770161"/>
            <a:ext cx="5452510" cy="1817503"/>
          </a:xfrm>
        </p:spPr>
      </p:pic>
      <p:sp>
        <p:nvSpPr>
          <p:cNvPr id="6" name="TextBox 5">
            <a:extLst>
              <a:ext uri="{FF2B5EF4-FFF2-40B4-BE49-F238E27FC236}">
                <a16:creationId xmlns:a16="http://schemas.microsoft.com/office/drawing/2014/main" id="{2C4F4D26-BCC4-4DCC-A8FF-195C08A86824}"/>
              </a:ext>
            </a:extLst>
          </p:cNvPr>
          <p:cNvSpPr txBox="1"/>
          <p:nvPr/>
        </p:nvSpPr>
        <p:spPr>
          <a:xfrm>
            <a:off x="643489" y="1257300"/>
            <a:ext cx="557633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SLICES VIEW UNDER GAUSSIAN NOISE:</a:t>
            </a:r>
            <a:endParaRPr lang="en-IN" b="1"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006CCDC4-7414-4A73-9505-44B4AEF997D1}"/>
              </a:ext>
            </a:extLst>
          </p:cNvPr>
          <p:cNvPicPr>
            <a:picLocks noChangeAspect="1"/>
          </p:cNvPicPr>
          <p:nvPr/>
        </p:nvPicPr>
        <p:blipFill>
          <a:blip r:embed="rId3"/>
          <a:stretch>
            <a:fillRect/>
          </a:stretch>
        </p:blipFill>
        <p:spPr>
          <a:xfrm>
            <a:off x="6350079" y="1798920"/>
            <a:ext cx="5279946" cy="1759982"/>
          </a:xfrm>
          <a:prstGeom prst="rect">
            <a:avLst/>
          </a:prstGeom>
        </p:spPr>
      </p:pic>
      <p:pic>
        <p:nvPicPr>
          <p:cNvPr id="15" name="Picture 14">
            <a:extLst>
              <a:ext uri="{FF2B5EF4-FFF2-40B4-BE49-F238E27FC236}">
                <a16:creationId xmlns:a16="http://schemas.microsoft.com/office/drawing/2014/main" id="{06EB649B-6E6A-4D14-AD0F-E1A17DF27FFF}"/>
              </a:ext>
            </a:extLst>
          </p:cNvPr>
          <p:cNvPicPr>
            <a:picLocks noChangeAspect="1"/>
          </p:cNvPicPr>
          <p:nvPr/>
        </p:nvPicPr>
        <p:blipFill>
          <a:blip r:embed="rId4"/>
          <a:stretch>
            <a:fillRect/>
          </a:stretch>
        </p:blipFill>
        <p:spPr>
          <a:xfrm>
            <a:off x="3316965" y="4363032"/>
            <a:ext cx="5281845" cy="1760615"/>
          </a:xfrm>
          <a:prstGeom prst="rect">
            <a:avLst/>
          </a:prstGeom>
        </p:spPr>
      </p:pic>
      <p:sp>
        <p:nvSpPr>
          <p:cNvPr id="16" name="TextBox 15">
            <a:extLst>
              <a:ext uri="{FF2B5EF4-FFF2-40B4-BE49-F238E27FC236}">
                <a16:creationId xmlns:a16="http://schemas.microsoft.com/office/drawing/2014/main" id="{DFF16B8F-6CBC-48AF-9ADB-A458BC128396}"/>
              </a:ext>
            </a:extLst>
          </p:cNvPr>
          <p:cNvSpPr txBox="1"/>
          <p:nvPr/>
        </p:nvSpPr>
        <p:spPr>
          <a:xfrm>
            <a:off x="708874" y="3748813"/>
            <a:ext cx="10921151" cy="369332"/>
          </a:xfrm>
          <a:prstGeom prst="rect">
            <a:avLst/>
          </a:prstGeom>
          <a:noFill/>
        </p:spPr>
        <p:txBody>
          <a:bodyPr wrap="square" rtlCol="0">
            <a:spAutoFit/>
          </a:bodyPr>
          <a:lstStyle/>
          <a:p>
            <a:r>
              <a:rPr lang="en-IN" dirty="0"/>
              <a:t>                      </a:t>
            </a:r>
            <a:r>
              <a:rPr lang="en-IN" dirty="0">
                <a:latin typeface="Arial" panose="020B0604020202020204" pitchFamily="34" charset="0"/>
                <a:cs typeface="Arial" panose="020B0604020202020204" pitchFamily="34" charset="0"/>
              </a:rPr>
              <a:t>Comparison of Slice0                                                       Comparison of Slice1                        </a:t>
            </a:r>
          </a:p>
        </p:txBody>
      </p:sp>
    </p:spTree>
    <p:extLst>
      <p:ext uri="{BB962C8B-B14F-4D97-AF65-F5344CB8AC3E}">
        <p14:creationId xmlns:p14="http://schemas.microsoft.com/office/powerpoint/2010/main" val="1586280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90" y="298383"/>
            <a:ext cx="10681735" cy="866274"/>
          </a:xfrm>
        </p:spPr>
        <p:txBody>
          <a:bodyPr>
            <a:normAutofit/>
          </a:bodyPr>
          <a:lstStyle/>
          <a:p>
            <a:r>
              <a:rPr lang="en-US" sz="3600" b="1" dirty="0">
                <a:latin typeface="Arial" panose="020B0604020202020204" pitchFamily="34" charset="0"/>
                <a:cs typeface="Arial" panose="020B0604020202020204" pitchFamily="34" charset="0"/>
              </a:rPr>
              <a:t>RESULTS OF DIFFERENT NOISE TYPES</a:t>
            </a:r>
            <a:endParaRPr lang="en-IN" sz="36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7CFDD3-8ABC-4968-BE1F-E6B65534BD06}"/>
              </a:ext>
            </a:extLst>
          </p:cNvPr>
          <p:cNvSpPr txBox="1"/>
          <p:nvPr/>
        </p:nvSpPr>
        <p:spPr>
          <a:xfrm>
            <a:off x="799631" y="6374951"/>
            <a:ext cx="10921151" cy="369332"/>
          </a:xfrm>
          <a:prstGeom prst="rect">
            <a:avLst/>
          </a:prstGeom>
          <a:noFill/>
        </p:spPr>
        <p:txBody>
          <a:bodyPr wrap="square" rtlCol="0">
            <a:spAutoFit/>
          </a:bodyPr>
          <a:lstStyle/>
          <a:p>
            <a:r>
              <a:rPr lang="en-IN" dirty="0"/>
              <a:t>                                                            Comparison of Slice2</a:t>
            </a:r>
          </a:p>
        </p:txBody>
      </p:sp>
      <p:pic>
        <p:nvPicPr>
          <p:cNvPr id="11" name="Content Placeholder 10">
            <a:extLst>
              <a:ext uri="{FF2B5EF4-FFF2-40B4-BE49-F238E27FC236}">
                <a16:creationId xmlns:a16="http://schemas.microsoft.com/office/drawing/2014/main" id="{55143E08-425C-4D5B-8E65-56498C75349C}"/>
              </a:ext>
            </a:extLst>
          </p:cNvPr>
          <p:cNvPicPr>
            <a:picLocks noGrp="1" noChangeAspect="1"/>
          </p:cNvPicPr>
          <p:nvPr>
            <p:ph idx="1"/>
          </p:nvPr>
        </p:nvPicPr>
        <p:blipFill>
          <a:blip r:embed="rId2"/>
          <a:stretch>
            <a:fillRect/>
          </a:stretch>
        </p:blipFill>
        <p:spPr>
          <a:xfrm>
            <a:off x="643490" y="1770161"/>
            <a:ext cx="5452510" cy="1817503"/>
          </a:xfrm>
        </p:spPr>
      </p:pic>
      <p:sp>
        <p:nvSpPr>
          <p:cNvPr id="6" name="TextBox 5">
            <a:extLst>
              <a:ext uri="{FF2B5EF4-FFF2-40B4-BE49-F238E27FC236}">
                <a16:creationId xmlns:a16="http://schemas.microsoft.com/office/drawing/2014/main" id="{2C4F4D26-BCC4-4DCC-A8FF-195C08A86824}"/>
              </a:ext>
            </a:extLst>
          </p:cNvPr>
          <p:cNvSpPr txBox="1"/>
          <p:nvPr/>
        </p:nvSpPr>
        <p:spPr>
          <a:xfrm>
            <a:off x="643489" y="1257300"/>
            <a:ext cx="557633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SLICES VIEW UNDER MOTION ARTIFACTS:</a:t>
            </a:r>
            <a:endParaRPr lang="en-IN" b="1"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006CCDC4-7414-4A73-9505-44B4AEF997D1}"/>
              </a:ext>
            </a:extLst>
          </p:cNvPr>
          <p:cNvPicPr>
            <a:picLocks noChangeAspect="1"/>
          </p:cNvPicPr>
          <p:nvPr/>
        </p:nvPicPr>
        <p:blipFill>
          <a:blip r:embed="rId3"/>
          <a:stretch>
            <a:fillRect/>
          </a:stretch>
        </p:blipFill>
        <p:spPr>
          <a:xfrm>
            <a:off x="6350079" y="1798920"/>
            <a:ext cx="5279946" cy="1759982"/>
          </a:xfrm>
          <a:prstGeom prst="rect">
            <a:avLst/>
          </a:prstGeom>
        </p:spPr>
      </p:pic>
      <p:pic>
        <p:nvPicPr>
          <p:cNvPr id="15" name="Picture 14">
            <a:extLst>
              <a:ext uri="{FF2B5EF4-FFF2-40B4-BE49-F238E27FC236}">
                <a16:creationId xmlns:a16="http://schemas.microsoft.com/office/drawing/2014/main" id="{06EB649B-6E6A-4D14-AD0F-E1A17DF27FFF}"/>
              </a:ext>
            </a:extLst>
          </p:cNvPr>
          <p:cNvPicPr>
            <a:picLocks noChangeAspect="1"/>
          </p:cNvPicPr>
          <p:nvPr/>
        </p:nvPicPr>
        <p:blipFill>
          <a:blip r:embed="rId4"/>
          <a:stretch>
            <a:fillRect/>
          </a:stretch>
        </p:blipFill>
        <p:spPr>
          <a:xfrm>
            <a:off x="3316965" y="4363032"/>
            <a:ext cx="5281845" cy="1760615"/>
          </a:xfrm>
          <a:prstGeom prst="rect">
            <a:avLst/>
          </a:prstGeom>
        </p:spPr>
      </p:pic>
      <p:sp>
        <p:nvSpPr>
          <p:cNvPr id="16" name="TextBox 15">
            <a:extLst>
              <a:ext uri="{FF2B5EF4-FFF2-40B4-BE49-F238E27FC236}">
                <a16:creationId xmlns:a16="http://schemas.microsoft.com/office/drawing/2014/main" id="{DFF16B8F-6CBC-48AF-9ADB-A458BC128396}"/>
              </a:ext>
            </a:extLst>
          </p:cNvPr>
          <p:cNvSpPr txBox="1"/>
          <p:nvPr/>
        </p:nvSpPr>
        <p:spPr>
          <a:xfrm>
            <a:off x="708874" y="3748813"/>
            <a:ext cx="10921151" cy="369332"/>
          </a:xfrm>
          <a:prstGeom prst="rect">
            <a:avLst/>
          </a:prstGeom>
          <a:noFill/>
        </p:spPr>
        <p:txBody>
          <a:bodyPr wrap="square" rtlCol="0">
            <a:spAutoFit/>
          </a:bodyPr>
          <a:lstStyle/>
          <a:p>
            <a:r>
              <a:rPr lang="en-IN" dirty="0"/>
              <a:t>                      </a:t>
            </a:r>
            <a:r>
              <a:rPr lang="en-IN" dirty="0">
                <a:latin typeface="Arial" panose="020B0604020202020204" pitchFamily="34" charset="0"/>
                <a:cs typeface="Arial" panose="020B0604020202020204" pitchFamily="34" charset="0"/>
              </a:rPr>
              <a:t>Comparison of Slice0                                                       Comparison of Slice1                        </a:t>
            </a:r>
          </a:p>
        </p:txBody>
      </p:sp>
    </p:spTree>
    <p:extLst>
      <p:ext uri="{BB962C8B-B14F-4D97-AF65-F5344CB8AC3E}">
        <p14:creationId xmlns:p14="http://schemas.microsoft.com/office/powerpoint/2010/main" val="2806532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90" y="298383"/>
            <a:ext cx="10681735" cy="866274"/>
          </a:xfrm>
        </p:spPr>
        <p:txBody>
          <a:bodyPr>
            <a:normAutofit/>
          </a:bodyPr>
          <a:lstStyle/>
          <a:p>
            <a:r>
              <a:rPr lang="en-US" sz="3600" b="1" dirty="0">
                <a:latin typeface="Arial" panose="020B0604020202020204" pitchFamily="34" charset="0"/>
                <a:cs typeface="Arial" panose="020B0604020202020204" pitchFamily="34" charset="0"/>
              </a:rPr>
              <a:t>RESULTS OF DIFFERENT NOISE TYPES</a:t>
            </a:r>
            <a:endParaRPr lang="en-IN" sz="36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7CFDD3-8ABC-4968-BE1F-E6B65534BD06}"/>
              </a:ext>
            </a:extLst>
          </p:cNvPr>
          <p:cNvSpPr txBox="1"/>
          <p:nvPr/>
        </p:nvSpPr>
        <p:spPr>
          <a:xfrm>
            <a:off x="799631" y="6374951"/>
            <a:ext cx="10921151" cy="369332"/>
          </a:xfrm>
          <a:prstGeom prst="rect">
            <a:avLst/>
          </a:prstGeom>
          <a:noFill/>
        </p:spPr>
        <p:txBody>
          <a:bodyPr wrap="square" rtlCol="0">
            <a:spAutoFit/>
          </a:bodyPr>
          <a:lstStyle/>
          <a:p>
            <a:r>
              <a:rPr lang="en-IN" dirty="0"/>
              <a:t>                                                                      Sagittal View Comparison</a:t>
            </a:r>
          </a:p>
        </p:txBody>
      </p:sp>
      <p:pic>
        <p:nvPicPr>
          <p:cNvPr id="11" name="Content Placeholder 10">
            <a:extLst>
              <a:ext uri="{FF2B5EF4-FFF2-40B4-BE49-F238E27FC236}">
                <a16:creationId xmlns:a16="http://schemas.microsoft.com/office/drawing/2014/main" id="{55143E08-425C-4D5B-8E65-56498C75349C}"/>
              </a:ext>
            </a:extLst>
          </p:cNvPr>
          <p:cNvPicPr>
            <a:picLocks noGrp="1" noChangeAspect="1"/>
          </p:cNvPicPr>
          <p:nvPr>
            <p:ph idx="1"/>
          </p:nvPr>
        </p:nvPicPr>
        <p:blipFill>
          <a:blip r:embed="rId2"/>
          <a:stretch>
            <a:fillRect/>
          </a:stretch>
        </p:blipFill>
        <p:spPr>
          <a:xfrm>
            <a:off x="643490" y="1770161"/>
            <a:ext cx="5452510" cy="1817503"/>
          </a:xfrm>
        </p:spPr>
      </p:pic>
      <p:sp>
        <p:nvSpPr>
          <p:cNvPr id="6" name="TextBox 5">
            <a:extLst>
              <a:ext uri="{FF2B5EF4-FFF2-40B4-BE49-F238E27FC236}">
                <a16:creationId xmlns:a16="http://schemas.microsoft.com/office/drawing/2014/main" id="{2C4F4D26-BCC4-4DCC-A8FF-195C08A86824}"/>
              </a:ext>
            </a:extLst>
          </p:cNvPr>
          <p:cNvSpPr txBox="1"/>
          <p:nvPr/>
        </p:nvSpPr>
        <p:spPr>
          <a:xfrm>
            <a:off x="643489" y="1257300"/>
            <a:ext cx="874816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ANATOMICAL PLANE VIEWS (POISSON NOISE):</a:t>
            </a:r>
            <a:endParaRPr lang="en-IN" b="1"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006CCDC4-7414-4A73-9505-44B4AEF997D1}"/>
              </a:ext>
            </a:extLst>
          </p:cNvPr>
          <p:cNvPicPr>
            <a:picLocks noChangeAspect="1"/>
          </p:cNvPicPr>
          <p:nvPr/>
        </p:nvPicPr>
        <p:blipFill rotWithShape="1">
          <a:blip r:embed="rId3"/>
          <a:srcRect t="4490"/>
          <a:stretch/>
        </p:blipFill>
        <p:spPr>
          <a:xfrm>
            <a:off x="6350079" y="1741400"/>
            <a:ext cx="5279946" cy="1817502"/>
          </a:xfrm>
          <a:prstGeom prst="rect">
            <a:avLst/>
          </a:prstGeom>
        </p:spPr>
      </p:pic>
      <p:pic>
        <p:nvPicPr>
          <p:cNvPr id="15" name="Picture 14">
            <a:extLst>
              <a:ext uri="{FF2B5EF4-FFF2-40B4-BE49-F238E27FC236}">
                <a16:creationId xmlns:a16="http://schemas.microsoft.com/office/drawing/2014/main" id="{06EB649B-6E6A-4D14-AD0F-E1A17DF27FFF}"/>
              </a:ext>
            </a:extLst>
          </p:cNvPr>
          <p:cNvPicPr>
            <a:picLocks noChangeAspect="1"/>
          </p:cNvPicPr>
          <p:nvPr/>
        </p:nvPicPr>
        <p:blipFill rotWithShape="1">
          <a:blip r:embed="rId4"/>
          <a:srcRect t="4524"/>
          <a:stretch/>
        </p:blipFill>
        <p:spPr>
          <a:xfrm>
            <a:off x="3316965" y="4442682"/>
            <a:ext cx="5281845" cy="1680965"/>
          </a:xfrm>
          <a:prstGeom prst="rect">
            <a:avLst/>
          </a:prstGeom>
        </p:spPr>
      </p:pic>
      <p:sp>
        <p:nvSpPr>
          <p:cNvPr id="16" name="TextBox 15">
            <a:extLst>
              <a:ext uri="{FF2B5EF4-FFF2-40B4-BE49-F238E27FC236}">
                <a16:creationId xmlns:a16="http://schemas.microsoft.com/office/drawing/2014/main" id="{DFF16B8F-6CBC-48AF-9ADB-A458BC128396}"/>
              </a:ext>
            </a:extLst>
          </p:cNvPr>
          <p:cNvSpPr txBox="1"/>
          <p:nvPr/>
        </p:nvSpPr>
        <p:spPr>
          <a:xfrm>
            <a:off x="708874" y="3748813"/>
            <a:ext cx="10921151" cy="369332"/>
          </a:xfrm>
          <a:prstGeom prst="rect">
            <a:avLst/>
          </a:prstGeom>
          <a:noFill/>
        </p:spPr>
        <p:txBody>
          <a:bodyPr wrap="square" rtlCol="0">
            <a:spAutoFit/>
          </a:bodyPr>
          <a:lstStyle/>
          <a:p>
            <a:r>
              <a:rPr lang="en-IN" dirty="0"/>
              <a:t>                       Axial View </a:t>
            </a:r>
            <a:r>
              <a:rPr lang="en-IN" dirty="0">
                <a:latin typeface="Arial" panose="020B0604020202020204" pitchFamily="34" charset="0"/>
                <a:cs typeface="Arial" panose="020B0604020202020204" pitchFamily="34" charset="0"/>
              </a:rPr>
              <a:t>Comparison                                                        Coronal View Comparison                        </a:t>
            </a:r>
          </a:p>
        </p:txBody>
      </p:sp>
    </p:spTree>
    <p:extLst>
      <p:ext uri="{BB962C8B-B14F-4D97-AF65-F5344CB8AC3E}">
        <p14:creationId xmlns:p14="http://schemas.microsoft.com/office/powerpoint/2010/main" val="1628629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90" y="298383"/>
            <a:ext cx="10681735" cy="866274"/>
          </a:xfrm>
        </p:spPr>
        <p:txBody>
          <a:bodyPr>
            <a:normAutofit/>
          </a:bodyPr>
          <a:lstStyle/>
          <a:p>
            <a:r>
              <a:rPr lang="en-US" sz="3600" b="1" dirty="0">
                <a:latin typeface="Arial" panose="020B0604020202020204" pitchFamily="34" charset="0"/>
                <a:cs typeface="Arial" panose="020B0604020202020204" pitchFamily="34" charset="0"/>
              </a:rPr>
              <a:t>RESULTS OF DIFFERENT NOISE TYPES</a:t>
            </a:r>
            <a:endParaRPr lang="en-IN" sz="36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7CFDD3-8ABC-4968-BE1F-E6B65534BD06}"/>
              </a:ext>
            </a:extLst>
          </p:cNvPr>
          <p:cNvSpPr txBox="1"/>
          <p:nvPr/>
        </p:nvSpPr>
        <p:spPr>
          <a:xfrm>
            <a:off x="799631" y="6374951"/>
            <a:ext cx="10921151" cy="369332"/>
          </a:xfrm>
          <a:prstGeom prst="rect">
            <a:avLst/>
          </a:prstGeom>
          <a:noFill/>
        </p:spPr>
        <p:txBody>
          <a:bodyPr wrap="square" rtlCol="0">
            <a:spAutoFit/>
          </a:bodyPr>
          <a:lstStyle/>
          <a:p>
            <a:r>
              <a:rPr lang="en-IN" dirty="0"/>
              <a:t>                                                                      Sagittal View Comparison</a:t>
            </a:r>
          </a:p>
        </p:txBody>
      </p:sp>
      <p:pic>
        <p:nvPicPr>
          <p:cNvPr id="11" name="Content Placeholder 10">
            <a:extLst>
              <a:ext uri="{FF2B5EF4-FFF2-40B4-BE49-F238E27FC236}">
                <a16:creationId xmlns:a16="http://schemas.microsoft.com/office/drawing/2014/main" id="{55143E08-425C-4D5B-8E65-56498C75349C}"/>
              </a:ext>
            </a:extLst>
          </p:cNvPr>
          <p:cNvPicPr>
            <a:picLocks noGrp="1" noChangeAspect="1"/>
          </p:cNvPicPr>
          <p:nvPr>
            <p:ph idx="1"/>
          </p:nvPr>
        </p:nvPicPr>
        <p:blipFill>
          <a:blip r:embed="rId2"/>
          <a:stretch>
            <a:fillRect/>
          </a:stretch>
        </p:blipFill>
        <p:spPr>
          <a:xfrm>
            <a:off x="643490" y="1770161"/>
            <a:ext cx="5452509" cy="1817503"/>
          </a:xfrm>
        </p:spPr>
      </p:pic>
      <p:sp>
        <p:nvSpPr>
          <p:cNvPr id="6" name="TextBox 5">
            <a:extLst>
              <a:ext uri="{FF2B5EF4-FFF2-40B4-BE49-F238E27FC236}">
                <a16:creationId xmlns:a16="http://schemas.microsoft.com/office/drawing/2014/main" id="{2C4F4D26-BCC4-4DCC-A8FF-195C08A86824}"/>
              </a:ext>
            </a:extLst>
          </p:cNvPr>
          <p:cNvSpPr txBox="1"/>
          <p:nvPr/>
        </p:nvSpPr>
        <p:spPr>
          <a:xfrm>
            <a:off x="643489" y="1257300"/>
            <a:ext cx="874816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ANATOMICAL PLANE VIEWS (GAUSSIAN NOISE):</a:t>
            </a:r>
            <a:endParaRPr lang="en-IN" b="1"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006CCDC4-7414-4A73-9505-44B4AEF997D1}"/>
              </a:ext>
            </a:extLst>
          </p:cNvPr>
          <p:cNvPicPr>
            <a:picLocks noChangeAspect="1"/>
          </p:cNvPicPr>
          <p:nvPr/>
        </p:nvPicPr>
        <p:blipFill rotWithShape="1">
          <a:blip r:embed="rId3"/>
          <a:srcRect t="4489"/>
          <a:stretch/>
        </p:blipFill>
        <p:spPr>
          <a:xfrm>
            <a:off x="6350079" y="1877936"/>
            <a:ext cx="5279946" cy="1680966"/>
          </a:xfrm>
          <a:prstGeom prst="rect">
            <a:avLst/>
          </a:prstGeom>
        </p:spPr>
      </p:pic>
      <p:pic>
        <p:nvPicPr>
          <p:cNvPr id="15" name="Picture 14">
            <a:extLst>
              <a:ext uri="{FF2B5EF4-FFF2-40B4-BE49-F238E27FC236}">
                <a16:creationId xmlns:a16="http://schemas.microsoft.com/office/drawing/2014/main" id="{06EB649B-6E6A-4D14-AD0F-E1A17DF27FFF}"/>
              </a:ext>
            </a:extLst>
          </p:cNvPr>
          <p:cNvPicPr>
            <a:picLocks noChangeAspect="1"/>
          </p:cNvPicPr>
          <p:nvPr/>
        </p:nvPicPr>
        <p:blipFill rotWithShape="1">
          <a:blip r:embed="rId4"/>
          <a:srcRect t="4524"/>
          <a:stretch/>
        </p:blipFill>
        <p:spPr>
          <a:xfrm>
            <a:off x="3316965" y="4442681"/>
            <a:ext cx="5281845" cy="1680966"/>
          </a:xfrm>
          <a:prstGeom prst="rect">
            <a:avLst/>
          </a:prstGeom>
        </p:spPr>
      </p:pic>
      <p:sp>
        <p:nvSpPr>
          <p:cNvPr id="16" name="TextBox 15">
            <a:extLst>
              <a:ext uri="{FF2B5EF4-FFF2-40B4-BE49-F238E27FC236}">
                <a16:creationId xmlns:a16="http://schemas.microsoft.com/office/drawing/2014/main" id="{DFF16B8F-6CBC-48AF-9ADB-A458BC128396}"/>
              </a:ext>
            </a:extLst>
          </p:cNvPr>
          <p:cNvSpPr txBox="1"/>
          <p:nvPr/>
        </p:nvSpPr>
        <p:spPr>
          <a:xfrm>
            <a:off x="708874" y="3748813"/>
            <a:ext cx="10921151" cy="369332"/>
          </a:xfrm>
          <a:prstGeom prst="rect">
            <a:avLst/>
          </a:prstGeom>
          <a:noFill/>
        </p:spPr>
        <p:txBody>
          <a:bodyPr wrap="square" rtlCol="0">
            <a:spAutoFit/>
          </a:bodyPr>
          <a:lstStyle/>
          <a:p>
            <a:r>
              <a:rPr lang="en-IN" dirty="0"/>
              <a:t>                       Axial View </a:t>
            </a:r>
            <a:r>
              <a:rPr lang="en-IN" dirty="0">
                <a:latin typeface="Arial" panose="020B0604020202020204" pitchFamily="34" charset="0"/>
                <a:cs typeface="Arial" panose="020B0604020202020204" pitchFamily="34" charset="0"/>
              </a:rPr>
              <a:t>Comparison                                                        Coronal View Comparison                        </a:t>
            </a:r>
          </a:p>
        </p:txBody>
      </p:sp>
    </p:spTree>
    <p:extLst>
      <p:ext uri="{BB962C8B-B14F-4D97-AF65-F5344CB8AC3E}">
        <p14:creationId xmlns:p14="http://schemas.microsoft.com/office/powerpoint/2010/main" val="3412299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90" y="298383"/>
            <a:ext cx="10681735" cy="866274"/>
          </a:xfrm>
        </p:spPr>
        <p:txBody>
          <a:bodyPr>
            <a:normAutofit/>
          </a:bodyPr>
          <a:lstStyle/>
          <a:p>
            <a:r>
              <a:rPr lang="en-US" sz="3600" b="1" dirty="0">
                <a:latin typeface="Arial" panose="020B0604020202020204" pitchFamily="34" charset="0"/>
                <a:cs typeface="Arial" panose="020B0604020202020204" pitchFamily="34" charset="0"/>
              </a:rPr>
              <a:t>RESULTS OF DIFFERENT NOISE TYPES</a:t>
            </a:r>
            <a:endParaRPr lang="en-IN" sz="36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7CFDD3-8ABC-4968-BE1F-E6B65534BD06}"/>
              </a:ext>
            </a:extLst>
          </p:cNvPr>
          <p:cNvSpPr txBox="1"/>
          <p:nvPr/>
        </p:nvSpPr>
        <p:spPr>
          <a:xfrm>
            <a:off x="799631" y="6374951"/>
            <a:ext cx="10921151" cy="369332"/>
          </a:xfrm>
          <a:prstGeom prst="rect">
            <a:avLst/>
          </a:prstGeom>
          <a:noFill/>
        </p:spPr>
        <p:txBody>
          <a:bodyPr wrap="square" rtlCol="0">
            <a:spAutoFit/>
          </a:bodyPr>
          <a:lstStyle/>
          <a:p>
            <a:r>
              <a:rPr lang="en-IN" dirty="0"/>
              <a:t>                                                                      Sagittal View Comparison</a:t>
            </a:r>
          </a:p>
        </p:txBody>
      </p:sp>
      <p:pic>
        <p:nvPicPr>
          <p:cNvPr id="11" name="Content Placeholder 10">
            <a:extLst>
              <a:ext uri="{FF2B5EF4-FFF2-40B4-BE49-F238E27FC236}">
                <a16:creationId xmlns:a16="http://schemas.microsoft.com/office/drawing/2014/main" id="{55143E08-425C-4D5B-8E65-56498C75349C}"/>
              </a:ext>
            </a:extLst>
          </p:cNvPr>
          <p:cNvPicPr>
            <a:picLocks noGrp="1" noChangeAspect="1"/>
          </p:cNvPicPr>
          <p:nvPr>
            <p:ph idx="1"/>
          </p:nvPr>
        </p:nvPicPr>
        <p:blipFill>
          <a:blip r:embed="rId2"/>
          <a:stretch>
            <a:fillRect/>
          </a:stretch>
        </p:blipFill>
        <p:spPr>
          <a:xfrm>
            <a:off x="643490" y="1770161"/>
            <a:ext cx="5452509" cy="1817503"/>
          </a:xfrm>
        </p:spPr>
      </p:pic>
      <p:sp>
        <p:nvSpPr>
          <p:cNvPr id="6" name="TextBox 5">
            <a:extLst>
              <a:ext uri="{FF2B5EF4-FFF2-40B4-BE49-F238E27FC236}">
                <a16:creationId xmlns:a16="http://schemas.microsoft.com/office/drawing/2014/main" id="{2C4F4D26-BCC4-4DCC-A8FF-195C08A86824}"/>
              </a:ext>
            </a:extLst>
          </p:cNvPr>
          <p:cNvSpPr txBox="1"/>
          <p:nvPr/>
        </p:nvSpPr>
        <p:spPr>
          <a:xfrm>
            <a:off x="643489" y="1257300"/>
            <a:ext cx="874816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ANATOMICAL PLANE VIEWS (MOTION ARTIFACTS):</a:t>
            </a:r>
            <a:endParaRPr lang="en-IN" b="1"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006CCDC4-7414-4A73-9505-44B4AEF997D1}"/>
              </a:ext>
            </a:extLst>
          </p:cNvPr>
          <p:cNvPicPr>
            <a:picLocks noChangeAspect="1"/>
          </p:cNvPicPr>
          <p:nvPr/>
        </p:nvPicPr>
        <p:blipFill rotWithShape="1">
          <a:blip r:embed="rId3"/>
          <a:srcRect t="4489"/>
          <a:stretch/>
        </p:blipFill>
        <p:spPr>
          <a:xfrm>
            <a:off x="6350079" y="1877936"/>
            <a:ext cx="5279946" cy="1680966"/>
          </a:xfrm>
          <a:prstGeom prst="rect">
            <a:avLst/>
          </a:prstGeom>
        </p:spPr>
      </p:pic>
      <p:pic>
        <p:nvPicPr>
          <p:cNvPr id="15" name="Picture 14">
            <a:extLst>
              <a:ext uri="{FF2B5EF4-FFF2-40B4-BE49-F238E27FC236}">
                <a16:creationId xmlns:a16="http://schemas.microsoft.com/office/drawing/2014/main" id="{06EB649B-6E6A-4D14-AD0F-E1A17DF27FFF}"/>
              </a:ext>
            </a:extLst>
          </p:cNvPr>
          <p:cNvPicPr>
            <a:picLocks noChangeAspect="1"/>
          </p:cNvPicPr>
          <p:nvPr/>
        </p:nvPicPr>
        <p:blipFill rotWithShape="1">
          <a:blip r:embed="rId4"/>
          <a:srcRect t="4524"/>
          <a:stretch/>
        </p:blipFill>
        <p:spPr>
          <a:xfrm>
            <a:off x="3316965" y="4442681"/>
            <a:ext cx="5281845" cy="1680966"/>
          </a:xfrm>
          <a:prstGeom prst="rect">
            <a:avLst/>
          </a:prstGeom>
        </p:spPr>
      </p:pic>
      <p:sp>
        <p:nvSpPr>
          <p:cNvPr id="16" name="TextBox 15">
            <a:extLst>
              <a:ext uri="{FF2B5EF4-FFF2-40B4-BE49-F238E27FC236}">
                <a16:creationId xmlns:a16="http://schemas.microsoft.com/office/drawing/2014/main" id="{DFF16B8F-6CBC-48AF-9ADB-A458BC128396}"/>
              </a:ext>
            </a:extLst>
          </p:cNvPr>
          <p:cNvSpPr txBox="1"/>
          <p:nvPr/>
        </p:nvSpPr>
        <p:spPr>
          <a:xfrm>
            <a:off x="708874" y="3748813"/>
            <a:ext cx="10921151" cy="369332"/>
          </a:xfrm>
          <a:prstGeom prst="rect">
            <a:avLst/>
          </a:prstGeom>
          <a:noFill/>
        </p:spPr>
        <p:txBody>
          <a:bodyPr wrap="square" rtlCol="0">
            <a:spAutoFit/>
          </a:bodyPr>
          <a:lstStyle/>
          <a:p>
            <a:r>
              <a:rPr lang="en-IN" dirty="0"/>
              <a:t>                       Axial View </a:t>
            </a:r>
            <a:r>
              <a:rPr lang="en-IN" dirty="0">
                <a:latin typeface="Arial" panose="020B0604020202020204" pitchFamily="34" charset="0"/>
                <a:cs typeface="Arial" panose="020B0604020202020204" pitchFamily="34" charset="0"/>
              </a:rPr>
              <a:t>Comparison                                                        Coronal View Comparison                        </a:t>
            </a:r>
          </a:p>
        </p:txBody>
      </p:sp>
    </p:spTree>
    <p:extLst>
      <p:ext uri="{BB962C8B-B14F-4D97-AF65-F5344CB8AC3E}">
        <p14:creationId xmlns:p14="http://schemas.microsoft.com/office/powerpoint/2010/main" val="1010181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90" y="298383"/>
            <a:ext cx="10681735" cy="866274"/>
          </a:xfrm>
        </p:spPr>
        <p:txBody>
          <a:bodyPr>
            <a:normAutofit/>
          </a:bodyPr>
          <a:lstStyle/>
          <a:p>
            <a:r>
              <a:rPr lang="en-US" sz="3600" b="1" dirty="0">
                <a:latin typeface="Arial" panose="020B0604020202020204" pitchFamily="34" charset="0"/>
                <a:cs typeface="Arial" panose="020B0604020202020204" pitchFamily="34" charset="0"/>
              </a:rPr>
              <a:t>DENOSING PET IMAGES</a:t>
            </a:r>
            <a:endParaRPr lang="en-IN" sz="36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C4F4D26-BCC4-4DCC-A8FF-195C08A86824}"/>
              </a:ext>
            </a:extLst>
          </p:cNvPr>
          <p:cNvSpPr txBox="1"/>
          <p:nvPr/>
        </p:nvSpPr>
        <p:spPr>
          <a:xfrm>
            <a:off x="643489" y="1257300"/>
            <a:ext cx="874816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Visualization of all slices combined:</a:t>
            </a:r>
            <a:endParaRPr lang="en-IN" b="1"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DFF16B8F-6CBC-48AF-9ADB-A458BC128396}"/>
              </a:ext>
            </a:extLst>
          </p:cNvPr>
          <p:cNvSpPr txBox="1"/>
          <p:nvPr/>
        </p:nvSpPr>
        <p:spPr>
          <a:xfrm>
            <a:off x="653014" y="4618924"/>
            <a:ext cx="10921151" cy="369332"/>
          </a:xfrm>
          <a:prstGeom prst="rect">
            <a:avLst/>
          </a:prstGeom>
          <a:noFill/>
        </p:spPr>
        <p:txBody>
          <a:bodyPr wrap="square" rtlCol="0">
            <a:spAutoFit/>
          </a:bodyPr>
          <a:lstStyle/>
          <a:p>
            <a:r>
              <a:rPr lang="en-IN" dirty="0"/>
              <a:t>      Original Image</a:t>
            </a:r>
            <a:r>
              <a:rPr lang="en-IN" dirty="0">
                <a:latin typeface="Arial" panose="020B0604020202020204" pitchFamily="34" charset="0"/>
                <a:cs typeface="Arial" panose="020B0604020202020204" pitchFamily="34" charset="0"/>
              </a:rPr>
              <a:t>               Combined Artifacts              Difference Map                    Denoised Image         </a:t>
            </a:r>
          </a:p>
        </p:txBody>
      </p:sp>
      <p:pic>
        <p:nvPicPr>
          <p:cNvPr id="12" name="Picture 11">
            <a:extLst>
              <a:ext uri="{FF2B5EF4-FFF2-40B4-BE49-F238E27FC236}">
                <a16:creationId xmlns:a16="http://schemas.microsoft.com/office/drawing/2014/main" id="{712CEDCE-E71C-4B76-B9D6-44FC17FDFB55}"/>
              </a:ext>
            </a:extLst>
          </p:cNvPr>
          <p:cNvPicPr/>
          <p:nvPr/>
        </p:nvPicPr>
        <p:blipFill>
          <a:blip r:embed="rId2"/>
          <a:stretch>
            <a:fillRect/>
          </a:stretch>
        </p:blipFill>
        <p:spPr>
          <a:xfrm>
            <a:off x="881614" y="2277540"/>
            <a:ext cx="1917065" cy="2059809"/>
          </a:xfrm>
          <a:prstGeom prst="rect">
            <a:avLst/>
          </a:prstGeom>
        </p:spPr>
      </p:pic>
      <p:pic>
        <p:nvPicPr>
          <p:cNvPr id="14" name="Picture 13">
            <a:extLst>
              <a:ext uri="{FF2B5EF4-FFF2-40B4-BE49-F238E27FC236}">
                <a16:creationId xmlns:a16="http://schemas.microsoft.com/office/drawing/2014/main" id="{D84A235E-79BD-485B-8588-51DBB82630F5}"/>
              </a:ext>
            </a:extLst>
          </p:cNvPr>
          <p:cNvPicPr/>
          <p:nvPr/>
        </p:nvPicPr>
        <p:blipFill>
          <a:blip r:embed="rId3"/>
          <a:stretch>
            <a:fillRect/>
          </a:stretch>
        </p:blipFill>
        <p:spPr>
          <a:xfrm>
            <a:off x="3413126" y="2277540"/>
            <a:ext cx="1917065" cy="2059809"/>
          </a:xfrm>
          <a:prstGeom prst="rect">
            <a:avLst/>
          </a:prstGeom>
        </p:spPr>
      </p:pic>
      <p:pic>
        <p:nvPicPr>
          <p:cNvPr id="17" name="Picture 16">
            <a:extLst>
              <a:ext uri="{FF2B5EF4-FFF2-40B4-BE49-F238E27FC236}">
                <a16:creationId xmlns:a16="http://schemas.microsoft.com/office/drawing/2014/main" id="{33B17F5A-0645-4EDE-A7E2-98A445A6E3CD}"/>
              </a:ext>
            </a:extLst>
          </p:cNvPr>
          <p:cNvPicPr/>
          <p:nvPr/>
        </p:nvPicPr>
        <p:blipFill>
          <a:blip r:embed="rId4"/>
          <a:stretch>
            <a:fillRect/>
          </a:stretch>
        </p:blipFill>
        <p:spPr>
          <a:xfrm>
            <a:off x="5984357" y="2277540"/>
            <a:ext cx="2101850" cy="2059808"/>
          </a:xfrm>
          <a:prstGeom prst="rect">
            <a:avLst/>
          </a:prstGeom>
        </p:spPr>
      </p:pic>
      <p:pic>
        <p:nvPicPr>
          <p:cNvPr id="18" name="Picture 17">
            <a:extLst>
              <a:ext uri="{FF2B5EF4-FFF2-40B4-BE49-F238E27FC236}">
                <a16:creationId xmlns:a16="http://schemas.microsoft.com/office/drawing/2014/main" id="{76BB98BA-85A5-4CF5-BF3F-22ABF07267E7}"/>
              </a:ext>
            </a:extLst>
          </p:cNvPr>
          <p:cNvPicPr/>
          <p:nvPr/>
        </p:nvPicPr>
        <p:blipFill>
          <a:blip r:embed="rId5"/>
          <a:stretch>
            <a:fillRect/>
          </a:stretch>
        </p:blipFill>
        <p:spPr>
          <a:xfrm>
            <a:off x="8836025" y="2277540"/>
            <a:ext cx="2101850" cy="2059808"/>
          </a:xfrm>
          <a:prstGeom prst="rect">
            <a:avLst/>
          </a:prstGeom>
        </p:spPr>
      </p:pic>
    </p:spTree>
    <p:extLst>
      <p:ext uri="{BB962C8B-B14F-4D97-AF65-F5344CB8AC3E}">
        <p14:creationId xmlns:p14="http://schemas.microsoft.com/office/powerpoint/2010/main" val="1637841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Autofit/>
          </a:bodyPr>
          <a:lstStyle/>
          <a:p>
            <a:r>
              <a:rPr lang="en-US" sz="3200" b="1" dirty="0">
                <a:latin typeface="Arial" panose="020B0604020202020204" pitchFamily="34" charset="0"/>
                <a:cs typeface="Arial" panose="020B0604020202020204" pitchFamily="34" charset="0"/>
              </a:rPr>
              <a:t>EVALUATION METRICS</a:t>
            </a:r>
            <a:endParaRPr lang="en-IN" sz="3200" b="1"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A6633D5E-AA13-4D86-A5FE-BFE03DB81AB0}"/>
              </a:ext>
            </a:extLst>
          </p:cNvPr>
          <p:cNvSpPr>
            <a:spLocks noGrp="1" noChangeArrowheads="1"/>
          </p:cNvSpPr>
          <p:nvPr>
            <p:ph idx="1"/>
          </p:nvPr>
        </p:nvSpPr>
        <p:spPr bwMode="auto">
          <a:xfrm>
            <a:off x="1402081" y="1481304"/>
            <a:ext cx="938784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MSE (Mean Square Error):</a:t>
            </a:r>
          </a:p>
          <a:p>
            <a:pPr marL="0" lvl="0" indent="0" eaLnBrk="0" fontAlgn="base" hangingPunct="0">
              <a:spcBef>
                <a:spcPct val="0"/>
              </a:spcBef>
              <a:spcAft>
                <a:spcPct val="0"/>
              </a:spcAft>
              <a:buClrTx/>
              <a:buNone/>
            </a:pPr>
            <a:r>
              <a:rPr lang="en-US" altLang="en-US" dirty="0">
                <a:solidFill>
                  <a:schemeClr val="tx1"/>
                </a:solidFill>
                <a:latin typeface="Arial" panose="020B0604020202020204" pitchFamily="34" charset="0"/>
              </a:rPr>
              <a:t>A measure of the average squared difference between original and processed images. </a:t>
            </a:r>
            <a:r>
              <a:rPr lang="en-US" altLang="en-US" b="1" dirty="0">
                <a:solidFill>
                  <a:srgbClr val="00B050"/>
                </a:solidFill>
                <a:latin typeface="Arial" panose="020B0604020202020204" pitchFamily="34" charset="0"/>
              </a:rPr>
              <a:t>Lower </a:t>
            </a:r>
            <a:r>
              <a:rPr lang="en-US" altLang="en-US" dirty="0">
                <a:solidFill>
                  <a:schemeClr val="tx1"/>
                </a:solidFill>
                <a:latin typeface="Arial" panose="020B0604020202020204" pitchFamily="34" charset="0"/>
              </a:rPr>
              <a:t>values indicate better quality. </a:t>
            </a:r>
            <a:r>
              <a:rPr lang="en-US" altLang="en-US" b="1" dirty="0">
                <a:solidFill>
                  <a:schemeClr val="tx1"/>
                </a:solidFill>
                <a:latin typeface="Arial" panose="020B0604020202020204" pitchFamily="34" charset="0"/>
              </a:rPr>
              <a:t>Formula</a:t>
            </a:r>
            <a:r>
              <a:rPr lang="en-US" altLang="en-US" dirty="0">
                <a:solidFill>
                  <a:schemeClr val="tx1"/>
                </a:solidFill>
                <a:latin typeface="Arial" panose="020B0604020202020204" pitchFamily="34" charset="0"/>
              </a:rPr>
              <a:t>: MSE = (1/</a:t>
            </a:r>
            <a:r>
              <a:rPr lang="en-US" altLang="en-US" dirty="0" err="1">
                <a:solidFill>
                  <a:schemeClr val="tx1"/>
                </a:solidFill>
                <a:latin typeface="Arial" panose="020B0604020202020204" pitchFamily="34" charset="0"/>
              </a:rPr>
              <a:t>mn</a:t>
            </a:r>
            <a:r>
              <a:rPr lang="en-US" altLang="en-US" dirty="0">
                <a:solidFill>
                  <a:schemeClr val="tx1"/>
                </a:solidFill>
                <a:latin typeface="Arial" panose="020B0604020202020204" pitchFamily="34" charset="0"/>
              </a:rPr>
              <a:t>)∑∑[I(</a:t>
            </a:r>
            <a:r>
              <a:rPr lang="en-US" altLang="en-US" dirty="0" err="1">
                <a:solidFill>
                  <a:schemeClr val="tx1"/>
                </a:solidFill>
                <a:latin typeface="Arial" panose="020B0604020202020204" pitchFamily="34" charset="0"/>
              </a:rPr>
              <a:t>i,j</a:t>
            </a:r>
            <a:r>
              <a:rPr lang="en-US" altLang="en-US" dirty="0">
                <a:solidFill>
                  <a:schemeClr val="tx1"/>
                </a:solidFill>
                <a:latin typeface="Arial" panose="020B0604020202020204" pitchFamily="34" charset="0"/>
              </a:rPr>
              <a:t>) - K(</a:t>
            </a:r>
            <a:r>
              <a:rPr lang="en-US" altLang="en-US" dirty="0" err="1">
                <a:solidFill>
                  <a:schemeClr val="tx1"/>
                </a:solidFill>
                <a:latin typeface="Arial" panose="020B0604020202020204" pitchFamily="34" charset="0"/>
              </a:rPr>
              <a:t>i,j</a:t>
            </a:r>
            <a:r>
              <a:rPr lang="en-US" altLang="en-US" dirty="0">
                <a:solidFill>
                  <a:schemeClr val="tx1"/>
                </a:solidFill>
                <a:latin typeface="Arial" panose="020B0604020202020204" pitchFamily="34" charset="0"/>
              </a:rPr>
              <a:t>)]²</a:t>
            </a:r>
          </a:p>
          <a:p>
            <a:pPr marL="0" lv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None/>
            </a:pPr>
            <a:r>
              <a:rPr lang="en-US" altLang="en-US" b="1" dirty="0">
                <a:solidFill>
                  <a:schemeClr val="tx1"/>
                </a:solidFill>
                <a:latin typeface="Arial" panose="020B0604020202020204" pitchFamily="34" charset="0"/>
              </a:rPr>
              <a:t>PSNR (Peak Signal-to-Noise Ratio):</a:t>
            </a:r>
          </a:p>
          <a:p>
            <a:pPr marL="0" lvl="0" indent="0" eaLnBrk="0" fontAlgn="base" hangingPunct="0">
              <a:spcBef>
                <a:spcPct val="0"/>
              </a:spcBef>
              <a:spcAft>
                <a:spcPct val="0"/>
              </a:spcAft>
              <a:buClrTx/>
              <a:buNone/>
            </a:pPr>
            <a:r>
              <a:rPr lang="en-US" altLang="en-US" dirty="0">
                <a:solidFill>
                  <a:schemeClr val="tx1"/>
                </a:solidFill>
                <a:latin typeface="Arial" panose="020B0604020202020204" pitchFamily="34" charset="0"/>
              </a:rPr>
              <a:t>Ratio between maximum possible power of a signal and power of corrupting noise. </a:t>
            </a:r>
            <a:r>
              <a:rPr lang="en-US" altLang="en-US" b="1" dirty="0">
                <a:solidFill>
                  <a:srgbClr val="00B050"/>
                </a:solidFill>
                <a:latin typeface="Arial" panose="020B0604020202020204" pitchFamily="34" charset="0"/>
              </a:rPr>
              <a:t>Higher</a:t>
            </a:r>
            <a:r>
              <a:rPr lang="en-US" altLang="en-US" dirty="0">
                <a:solidFill>
                  <a:schemeClr val="tx1"/>
                </a:solidFill>
                <a:latin typeface="Arial" panose="020B0604020202020204" pitchFamily="34" charset="0"/>
              </a:rPr>
              <a:t> values indicate better quality. </a:t>
            </a:r>
            <a:r>
              <a:rPr lang="en-US" altLang="en-US" b="1" dirty="0">
                <a:solidFill>
                  <a:schemeClr val="tx1"/>
                </a:solidFill>
                <a:latin typeface="Arial" panose="020B0604020202020204" pitchFamily="34" charset="0"/>
              </a:rPr>
              <a:t>Formula</a:t>
            </a:r>
            <a:r>
              <a:rPr lang="en-US" altLang="en-US" dirty="0">
                <a:solidFill>
                  <a:schemeClr val="tx1"/>
                </a:solidFill>
                <a:latin typeface="Arial" panose="020B0604020202020204" pitchFamily="34" charset="0"/>
              </a:rPr>
              <a:t>: PSNR = 10·log₁₀(MAX²/MSE) Db</a:t>
            </a:r>
          </a:p>
          <a:p>
            <a:pPr marL="0" lvl="0" indent="0" eaLnBrk="0" fontAlgn="base" hangingPunct="0">
              <a:spcBef>
                <a:spcPct val="0"/>
              </a:spcBef>
              <a:spcAft>
                <a:spcPct val="0"/>
              </a:spcAft>
              <a:buClrTx/>
              <a:buNone/>
            </a:pPr>
            <a:endParaRPr lang="en-US" altLang="en-US" b="1" dirty="0">
              <a:solidFill>
                <a:schemeClr val="tx1"/>
              </a:solidFill>
              <a:latin typeface="Arial" panose="020B0604020202020204" pitchFamily="34" charset="0"/>
            </a:endParaRPr>
          </a:p>
          <a:p>
            <a:pPr marL="0" lvl="0" indent="0" eaLnBrk="0" fontAlgn="base" hangingPunct="0">
              <a:spcBef>
                <a:spcPct val="0"/>
              </a:spcBef>
              <a:spcAft>
                <a:spcPct val="0"/>
              </a:spcAft>
              <a:buClrTx/>
              <a:buNone/>
            </a:pPr>
            <a:r>
              <a:rPr lang="en-US" altLang="en-US" b="1" dirty="0">
                <a:solidFill>
                  <a:schemeClr val="tx1"/>
                </a:solidFill>
                <a:latin typeface="Arial" panose="020B0604020202020204" pitchFamily="34" charset="0"/>
              </a:rPr>
              <a:t>SSIM (Structural Similarity Index):</a:t>
            </a:r>
          </a:p>
          <a:p>
            <a:pPr marL="0" lvl="0" indent="0" eaLnBrk="0" fontAlgn="base" hangingPunct="0">
              <a:spcBef>
                <a:spcPct val="0"/>
              </a:spcBef>
              <a:spcAft>
                <a:spcPct val="0"/>
              </a:spcAft>
              <a:buClrTx/>
              <a:buNone/>
            </a:pPr>
            <a:r>
              <a:rPr lang="en-US" altLang="en-US" dirty="0">
                <a:solidFill>
                  <a:schemeClr val="tx1"/>
                </a:solidFill>
                <a:latin typeface="Arial" panose="020B0604020202020204" pitchFamily="34" charset="0"/>
              </a:rPr>
              <a:t>Perceptual metric that quantifies image quality degradation based on structural information. Values range from 0 to 1, with </a:t>
            </a:r>
            <a:r>
              <a:rPr lang="en-US" altLang="en-US" b="1" dirty="0">
                <a:solidFill>
                  <a:srgbClr val="00B050"/>
                </a:solidFill>
                <a:latin typeface="Arial" panose="020B0604020202020204" pitchFamily="34" charset="0"/>
              </a:rPr>
              <a:t>1 being perfect quality</a:t>
            </a:r>
            <a:r>
              <a:rPr lang="en-US" altLang="en-US" dirty="0">
                <a:solidFill>
                  <a:schemeClr val="tx1"/>
                </a:solidFill>
                <a:latin typeface="Arial" panose="020B0604020202020204" pitchFamily="34" charset="0"/>
              </a:rPr>
              <a:t>. </a:t>
            </a:r>
          </a:p>
          <a:p>
            <a:pPr marL="0" lvl="0" indent="0" eaLnBrk="0" fontAlgn="base" hangingPunct="0">
              <a:spcBef>
                <a:spcPct val="0"/>
              </a:spcBef>
              <a:spcAft>
                <a:spcPct val="0"/>
              </a:spcAft>
              <a:buClrTx/>
              <a:buNone/>
            </a:pPr>
            <a:r>
              <a:rPr lang="en-US" altLang="en-US" b="1" dirty="0">
                <a:solidFill>
                  <a:schemeClr val="tx1"/>
                </a:solidFill>
                <a:latin typeface="Arial" panose="020B0604020202020204" pitchFamily="34" charset="0"/>
              </a:rPr>
              <a:t>Formula</a:t>
            </a:r>
            <a:r>
              <a:rPr lang="en-US" altLang="en-US" dirty="0">
                <a:solidFill>
                  <a:schemeClr val="tx1"/>
                </a:solidFill>
                <a:latin typeface="Arial" panose="020B0604020202020204" pitchFamily="34" charset="0"/>
              </a:rPr>
              <a:t>: SSIM(x, y) = [(2</a:t>
            </a:r>
            <a:r>
              <a:rPr lang="el-GR" altLang="en-US" dirty="0">
                <a:solidFill>
                  <a:schemeClr val="tx1"/>
                </a:solidFill>
                <a:latin typeface="Arial" panose="020B0604020202020204" pitchFamily="34" charset="0"/>
              </a:rPr>
              <a:t>μ</a:t>
            </a:r>
            <a:r>
              <a:rPr lang="en-US" altLang="en-US" dirty="0">
                <a:solidFill>
                  <a:schemeClr val="tx1"/>
                </a:solidFill>
                <a:latin typeface="Arial" panose="020B0604020202020204" pitchFamily="34" charset="0"/>
              </a:rPr>
              <a:t>ₓ</a:t>
            </a:r>
            <a:r>
              <a:rPr lang="el-GR" altLang="en-US" dirty="0">
                <a:solidFill>
                  <a:schemeClr val="tx1"/>
                </a:solidFill>
                <a:latin typeface="Arial" panose="020B0604020202020204" pitchFamily="34" charset="0"/>
              </a:rPr>
              <a:t>μᵧ + </a:t>
            </a:r>
            <a:r>
              <a:rPr lang="en-US" altLang="en-US" dirty="0">
                <a:solidFill>
                  <a:schemeClr val="tx1"/>
                </a:solidFill>
                <a:latin typeface="Arial" panose="020B0604020202020204" pitchFamily="34" charset="0"/>
              </a:rPr>
              <a:t>C₁)(2</a:t>
            </a:r>
            <a:r>
              <a:rPr lang="el-GR" altLang="en-US" dirty="0">
                <a:solidFill>
                  <a:schemeClr val="tx1"/>
                </a:solidFill>
                <a:latin typeface="Arial" panose="020B0604020202020204" pitchFamily="34" charset="0"/>
              </a:rPr>
              <a:t>σ</a:t>
            </a:r>
            <a:r>
              <a:rPr lang="en-US" altLang="en-US" dirty="0">
                <a:solidFill>
                  <a:schemeClr val="tx1"/>
                </a:solidFill>
                <a:latin typeface="Arial" panose="020B0604020202020204" pitchFamily="34" charset="0"/>
              </a:rPr>
              <a:t>ₓ</a:t>
            </a:r>
            <a:r>
              <a:rPr lang="el-GR" altLang="en-US" dirty="0">
                <a:solidFill>
                  <a:schemeClr val="tx1"/>
                </a:solidFill>
                <a:latin typeface="Arial" panose="020B0604020202020204" pitchFamily="34" charset="0"/>
              </a:rPr>
              <a:t>ᵧ + </a:t>
            </a:r>
            <a:r>
              <a:rPr lang="en-US" altLang="en-US" dirty="0">
                <a:solidFill>
                  <a:schemeClr val="tx1"/>
                </a:solidFill>
                <a:latin typeface="Arial" panose="020B0604020202020204" pitchFamily="34" charset="0"/>
              </a:rPr>
              <a:t>C₂)] / [(</a:t>
            </a:r>
            <a:r>
              <a:rPr lang="el-GR" altLang="en-US" dirty="0">
                <a:solidFill>
                  <a:schemeClr val="tx1"/>
                </a:solidFill>
                <a:latin typeface="Arial" panose="020B0604020202020204" pitchFamily="34" charset="0"/>
              </a:rPr>
              <a:t>μ</a:t>
            </a:r>
            <a:r>
              <a:rPr lang="en-US" altLang="en-US" dirty="0">
                <a:solidFill>
                  <a:schemeClr val="tx1"/>
                </a:solidFill>
                <a:latin typeface="Arial" panose="020B0604020202020204" pitchFamily="34" charset="0"/>
              </a:rPr>
              <a:t>ₓ² + </a:t>
            </a:r>
            <a:r>
              <a:rPr lang="el-GR" altLang="en-US" dirty="0">
                <a:solidFill>
                  <a:schemeClr val="tx1"/>
                </a:solidFill>
                <a:latin typeface="Arial" panose="020B0604020202020204" pitchFamily="34" charset="0"/>
              </a:rPr>
              <a:t>μᵧ² + </a:t>
            </a:r>
            <a:r>
              <a:rPr lang="en-US" altLang="en-US" dirty="0">
                <a:solidFill>
                  <a:schemeClr val="tx1"/>
                </a:solidFill>
                <a:latin typeface="Arial" panose="020B0604020202020204" pitchFamily="34" charset="0"/>
              </a:rPr>
              <a:t>C₁)(</a:t>
            </a:r>
            <a:r>
              <a:rPr lang="el-GR" altLang="en-US" dirty="0">
                <a:solidFill>
                  <a:schemeClr val="tx1"/>
                </a:solidFill>
                <a:latin typeface="Arial" panose="020B0604020202020204" pitchFamily="34" charset="0"/>
              </a:rPr>
              <a:t>σ</a:t>
            </a:r>
            <a:r>
              <a:rPr lang="en-US" altLang="en-US" dirty="0">
                <a:solidFill>
                  <a:schemeClr val="tx1"/>
                </a:solidFill>
                <a:latin typeface="Arial" panose="020B0604020202020204" pitchFamily="34" charset="0"/>
              </a:rPr>
              <a:t>ₓ² + </a:t>
            </a:r>
            <a:r>
              <a:rPr lang="el-GR" altLang="en-US" dirty="0">
                <a:solidFill>
                  <a:schemeClr val="tx1"/>
                </a:solidFill>
                <a:latin typeface="Arial" panose="020B0604020202020204" pitchFamily="34" charset="0"/>
              </a:rPr>
              <a:t>σᵧ² + </a:t>
            </a:r>
            <a:r>
              <a:rPr lang="en-US" altLang="en-US" dirty="0">
                <a:solidFill>
                  <a:schemeClr val="tx1"/>
                </a:solidFill>
                <a:latin typeface="Arial" panose="020B0604020202020204" pitchFamily="34" charset="0"/>
              </a:rPr>
              <a:t>C₂)]</a:t>
            </a:r>
          </a:p>
          <a:p>
            <a:pPr marL="0" lvl="0" indent="0" eaLnBrk="0" fontAlgn="base" hangingPunct="0">
              <a:spcBef>
                <a:spcPct val="0"/>
              </a:spcBef>
              <a:spcAft>
                <a:spcPct val="0"/>
              </a:spcAft>
              <a:buClrTx/>
              <a:buNone/>
            </a:pPr>
            <a:endParaRPr lang="en-US" altLang="en-US" b="1" dirty="0">
              <a:solidFill>
                <a:schemeClr val="tx1"/>
              </a:solidFill>
              <a:latin typeface="Arial" panose="020B0604020202020204" pitchFamily="34" charset="0"/>
            </a:endParaRPr>
          </a:p>
          <a:p>
            <a:pPr marL="0" lvl="0" indent="0" eaLnBrk="0" fontAlgn="base" hangingPunct="0">
              <a:spcBef>
                <a:spcPct val="0"/>
              </a:spcBef>
              <a:spcAft>
                <a:spcPct val="0"/>
              </a:spcAft>
              <a:buClrTx/>
              <a:buNone/>
            </a:pPr>
            <a:r>
              <a:rPr lang="en-US" altLang="en-US" b="1" dirty="0">
                <a:solidFill>
                  <a:schemeClr val="tx1"/>
                </a:solidFill>
                <a:latin typeface="Arial" panose="020B0604020202020204" pitchFamily="34" charset="0"/>
              </a:rPr>
              <a:t>BRISQUE (Blind/ Reference less Image Spatial Quality Evaluator):</a:t>
            </a:r>
          </a:p>
          <a:p>
            <a:pPr marL="0" lvl="0" indent="0" eaLnBrk="0" fontAlgn="base" hangingPunct="0">
              <a:spcBef>
                <a:spcPct val="0"/>
              </a:spcBef>
              <a:spcAft>
                <a:spcPct val="0"/>
              </a:spcAft>
              <a:buClrTx/>
              <a:buNone/>
            </a:pPr>
            <a:r>
              <a:rPr lang="en-US" altLang="en-US" dirty="0">
                <a:solidFill>
                  <a:schemeClr val="tx1"/>
                </a:solidFill>
                <a:latin typeface="Arial" panose="020B0604020202020204" pitchFamily="34" charset="0"/>
              </a:rPr>
              <a:t>A no-reference image quality assessment that quantifies possible losses of naturalness in images. </a:t>
            </a:r>
            <a:r>
              <a:rPr lang="en-US" altLang="en-US" b="1" dirty="0">
                <a:solidFill>
                  <a:srgbClr val="00B050"/>
                </a:solidFill>
                <a:latin typeface="Arial" panose="020B0604020202020204" pitchFamily="34" charset="0"/>
              </a:rPr>
              <a:t>Lower</a:t>
            </a:r>
            <a:r>
              <a:rPr lang="en-US" altLang="en-US" dirty="0">
                <a:solidFill>
                  <a:schemeClr val="tx1"/>
                </a:solidFill>
                <a:latin typeface="Arial" panose="020B0604020202020204" pitchFamily="34" charset="0"/>
              </a:rPr>
              <a:t> values indicate better quality. </a:t>
            </a:r>
            <a:r>
              <a:rPr lang="en-US" altLang="en-US" b="1" dirty="0">
                <a:solidFill>
                  <a:schemeClr val="tx1"/>
                </a:solidFill>
                <a:latin typeface="Arial" panose="020B0604020202020204" pitchFamily="34" charset="0"/>
              </a:rPr>
              <a:t>Formula</a:t>
            </a:r>
            <a:r>
              <a:rPr lang="en-US" altLang="en-US" dirty="0">
                <a:solidFill>
                  <a:schemeClr val="tx1"/>
                </a:solidFill>
                <a:latin typeface="Arial" panose="020B0604020202020204" pitchFamily="34" charset="0"/>
              </a:rPr>
              <a:t>: Computed using natural scene statistics and SVM (no simple formula).</a:t>
            </a:r>
          </a:p>
          <a:p>
            <a:pPr marL="0" lvl="0" indent="0" eaLnBrk="0" fontAlgn="base" hangingPunct="0">
              <a:spcBef>
                <a:spcPct val="0"/>
              </a:spcBef>
              <a:spcAft>
                <a:spcPct val="0"/>
              </a:spcAft>
              <a:buClr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9023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0158" y="1749778"/>
            <a:ext cx="7729728" cy="5108222"/>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IN" dirty="0"/>
          </a:p>
        </p:txBody>
      </p:sp>
      <p:pic>
        <p:nvPicPr>
          <p:cNvPr id="2" name="Picture 1">
            <a:extLst>
              <a:ext uri="{FF2B5EF4-FFF2-40B4-BE49-F238E27FC236}">
                <a16:creationId xmlns:a16="http://schemas.microsoft.com/office/drawing/2014/main" id="{EC1BD8C4-7289-4006-9C3C-8CE765DAF5AF}"/>
              </a:ext>
            </a:extLst>
          </p:cNvPr>
          <p:cNvPicPr>
            <a:picLocks noChangeAspect="1"/>
          </p:cNvPicPr>
          <p:nvPr/>
        </p:nvPicPr>
        <p:blipFill>
          <a:blip r:embed="rId2"/>
          <a:stretch>
            <a:fillRect/>
          </a:stretch>
        </p:blipFill>
        <p:spPr>
          <a:xfrm>
            <a:off x="1424539" y="833437"/>
            <a:ext cx="9519686" cy="5191125"/>
          </a:xfrm>
          <a:prstGeom prst="rect">
            <a:avLst/>
          </a:prstGeom>
        </p:spPr>
      </p:pic>
      <p:sp>
        <p:nvSpPr>
          <p:cNvPr id="6" name="Title 1">
            <a:extLst>
              <a:ext uri="{FF2B5EF4-FFF2-40B4-BE49-F238E27FC236}">
                <a16:creationId xmlns:a16="http://schemas.microsoft.com/office/drawing/2014/main" id="{21FA23D6-EE4E-45A0-ADFD-6D4541846959}"/>
              </a:ext>
            </a:extLst>
          </p:cNvPr>
          <p:cNvSpPr>
            <a:spLocks noGrp="1"/>
          </p:cNvSpPr>
          <p:nvPr>
            <p:ph type="title"/>
          </p:nvPr>
        </p:nvSpPr>
        <p:spPr>
          <a:xfrm>
            <a:off x="1424539" y="298383"/>
            <a:ext cx="9365381" cy="435042"/>
          </a:xfrm>
        </p:spPr>
        <p:txBody>
          <a:bodyPr>
            <a:noAutofit/>
          </a:bodyPr>
          <a:lstStyle/>
          <a:p>
            <a:r>
              <a:rPr lang="en-IN" sz="1400" b="1" dirty="0">
                <a:latin typeface="Arial" panose="020B0604020202020204" pitchFamily="34" charset="0"/>
                <a:cs typeface="Arial" panose="020B0604020202020204" pitchFamily="34" charset="0"/>
              </a:rPr>
              <a:t>Noise Image quality metrics before denoising</a:t>
            </a:r>
          </a:p>
        </p:txBody>
      </p:sp>
    </p:spTree>
    <p:extLst>
      <p:ext uri="{BB962C8B-B14F-4D97-AF65-F5344CB8AC3E}">
        <p14:creationId xmlns:p14="http://schemas.microsoft.com/office/powerpoint/2010/main" val="3184383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0158" y="1749778"/>
            <a:ext cx="7729728" cy="5108222"/>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IN" dirty="0"/>
          </a:p>
        </p:txBody>
      </p:sp>
      <p:pic>
        <p:nvPicPr>
          <p:cNvPr id="2" name="Picture 1">
            <a:extLst>
              <a:ext uri="{FF2B5EF4-FFF2-40B4-BE49-F238E27FC236}">
                <a16:creationId xmlns:a16="http://schemas.microsoft.com/office/drawing/2014/main" id="{EC1BD8C4-7289-4006-9C3C-8CE765DAF5AF}"/>
              </a:ext>
            </a:extLst>
          </p:cNvPr>
          <p:cNvPicPr>
            <a:picLocks noChangeAspect="1"/>
          </p:cNvPicPr>
          <p:nvPr/>
        </p:nvPicPr>
        <p:blipFill>
          <a:blip r:embed="rId2"/>
          <a:stretch>
            <a:fillRect/>
          </a:stretch>
        </p:blipFill>
        <p:spPr>
          <a:xfrm>
            <a:off x="1424539" y="833437"/>
            <a:ext cx="9500636" cy="5191125"/>
          </a:xfrm>
          <a:prstGeom prst="rect">
            <a:avLst/>
          </a:prstGeom>
        </p:spPr>
      </p:pic>
      <p:sp>
        <p:nvSpPr>
          <p:cNvPr id="6" name="Title 1">
            <a:extLst>
              <a:ext uri="{FF2B5EF4-FFF2-40B4-BE49-F238E27FC236}">
                <a16:creationId xmlns:a16="http://schemas.microsoft.com/office/drawing/2014/main" id="{21FA23D6-EE4E-45A0-ADFD-6D4541846959}"/>
              </a:ext>
            </a:extLst>
          </p:cNvPr>
          <p:cNvSpPr>
            <a:spLocks noGrp="1"/>
          </p:cNvSpPr>
          <p:nvPr>
            <p:ph type="title"/>
          </p:nvPr>
        </p:nvSpPr>
        <p:spPr>
          <a:xfrm>
            <a:off x="1424539" y="298383"/>
            <a:ext cx="9365381" cy="435042"/>
          </a:xfrm>
        </p:spPr>
        <p:txBody>
          <a:bodyPr>
            <a:noAutofit/>
          </a:bodyPr>
          <a:lstStyle/>
          <a:p>
            <a:r>
              <a:rPr lang="en-IN" sz="1400" b="1" dirty="0">
                <a:latin typeface="Arial" panose="020B0604020202020204" pitchFamily="34" charset="0"/>
                <a:cs typeface="Arial" panose="020B0604020202020204" pitchFamily="34" charset="0"/>
              </a:rPr>
              <a:t>Noise Image quality metrics AFTER denoising</a:t>
            </a:r>
          </a:p>
        </p:txBody>
      </p:sp>
    </p:spTree>
    <p:extLst>
      <p:ext uri="{BB962C8B-B14F-4D97-AF65-F5344CB8AC3E}">
        <p14:creationId xmlns:p14="http://schemas.microsoft.com/office/powerpoint/2010/main" val="2784840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rmAutofit/>
          </a:bodyPr>
          <a:lstStyle/>
          <a:p>
            <a:r>
              <a:rPr lang="en-US" sz="3600" b="1" dirty="0">
                <a:latin typeface="Arial" panose="020B0604020202020204" pitchFamily="34" charset="0"/>
                <a:cs typeface="Arial" panose="020B0604020202020204" pitchFamily="34" charset="0"/>
              </a:rPr>
              <a:t>CONCLUSION</a:t>
            </a:r>
            <a:endParaRPr lang="en-IN" sz="3600" b="1"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EA2FA27A-5E88-47C3-B025-E22D262DE288}"/>
              </a:ext>
            </a:extLst>
          </p:cNvPr>
          <p:cNvSpPr>
            <a:spLocks noGrp="1" noChangeArrowheads="1"/>
          </p:cNvSpPr>
          <p:nvPr>
            <p:ph idx="1"/>
          </p:nvPr>
        </p:nvSpPr>
        <p:spPr bwMode="auto">
          <a:xfrm>
            <a:off x="1424539" y="1963745"/>
            <a:ext cx="93878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10" name="Content Placeholder 2">
            <a:extLst>
              <a:ext uri="{FF2B5EF4-FFF2-40B4-BE49-F238E27FC236}">
                <a16:creationId xmlns:a16="http://schemas.microsoft.com/office/drawing/2014/main" id="{6E08E6FF-A8A0-46B2-A3B1-6B1939E7B532}"/>
              </a:ext>
            </a:extLst>
          </p:cNvPr>
          <p:cNvSpPr txBox="1">
            <a:spLocks/>
          </p:cNvSpPr>
          <p:nvPr/>
        </p:nvSpPr>
        <p:spPr>
          <a:xfrm>
            <a:off x="1446998" y="1663668"/>
            <a:ext cx="9365381" cy="447043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just">
              <a:buNone/>
            </a:pPr>
            <a:r>
              <a:rPr lang="en-US" b="1" dirty="0">
                <a:latin typeface="Arial" panose="020B0604020202020204" pitchFamily="34" charset="0"/>
                <a:cs typeface="Arial" panose="020B0604020202020204" pitchFamily="34" charset="0"/>
              </a:rPr>
              <a:t>Improved Image Quality:</a:t>
            </a:r>
            <a:r>
              <a:rPr lang="en-US" dirty="0">
                <a:latin typeface="Arial" panose="020B0604020202020204" pitchFamily="34" charset="0"/>
                <a:cs typeface="Arial" panose="020B0604020202020204" pitchFamily="34" charset="0"/>
              </a:rPr>
              <a:t> The DAE significantly enhances PET image quality, showing </a:t>
            </a:r>
            <a:r>
              <a:rPr lang="en-US">
                <a:latin typeface="Arial" panose="020B0604020202020204" pitchFamily="34" charset="0"/>
                <a:cs typeface="Arial" panose="020B0604020202020204" pitchFamily="34" charset="0"/>
              </a:rPr>
              <a:t>a ~15–25 </a:t>
            </a:r>
            <a:r>
              <a:rPr lang="en-US" dirty="0">
                <a:latin typeface="Arial" panose="020B0604020202020204" pitchFamily="34" charset="0"/>
                <a:cs typeface="Arial" panose="020B0604020202020204" pitchFamily="34" charset="0"/>
              </a:rPr>
              <a:t>dB gain in PSNR, high </a:t>
            </a:r>
            <a:r>
              <a:rPr lang="en-US">
                <a:latin typeface="Arial" panose="020B0604020202020204" pitchFamily="34" charset="0"/>
                <a:cs typeface="Arial" panose="020B0604020202020204" pitchFamily="34" charset="0"/>
              </a:rPr>
              <a:t>SSIM values(&gt;0.92), </a:t>
            </a:r>
            <a:r>
              <a:rPr lang="en-US" dirty="0">
                <a:latin typeface="Arial" panose="020B0604020202020204" pitchFamily="34" charset="0"/>
                <a:cs typeface="Arial" panose="020B0604020202020204" pitchFamily="34" charset="0"/>
              </a:rPr>
              <a:t>and </a:t>
            </a:r>
            <a:r>
              <a:rPr lang="en-US">
                <a:latin typeface="Arial" panose="020B0604020202020204" pitchFamily="34" charset="0"/>
                <a:cs typeface="Arial" panose="020B0604020202020204" pitchFamily="34" charset="0"/>
              </a:rPr>
              <a:t>low MSE(&lt;0.012) </a:t>
            </a:r>
            <a:r>
              <a:rPr lang="en-US" dirty="0">
                <a:latin typeface="Arial" panose="020B0604020202020204" pitchFamily="34" charset="0"/>
                <a:cs typeface="Arial" panose="020B0604020202020204" pitchFamily="34" charset="0"/>
              </a:rPr>
              <a:t>and </a:t>
            </a:r>
            <a:r>
              <a:rPr lang="en-US">
                <a:latin typeface="Arial" panose="020B0604020202020204" pitchFamily="34" charset="0"/>
                <a:cs typeface="Arial" panose="020B0604020202020204" pitchFamily="34" charset="0"/>
              </a:rPr>
              <a:t>BRISQUE scores(&lt;18).</a:t>
            </a:r>
            <a:endParaRPr lang="en-US" dirty="0">
              <a:latin typeface="Arial" panose="020B0604020202020204" pitchFamily="34" charset="0"/>
              <a:cs typeface="Arial" panose="020B0604020202020204" pitchFamily="34" charset="0"/>
            </a:endParaRPr>
          </a:p>
          <a:p>
            <a:pPr marL="0" indent="0" algn="just">
              <a:buNone/>
            </a:pPr>
            <a:r>
              <a:rPr lang="en-US" b="1" dirty="0">
                <a:latin typeface="Arial" panose="020B0604020202020204" pitchFamily="34" charset="0"/>
                <a:cs typeface="Arial" panose="020B0604020202020204" pitchFamily="34" charset="0"/>
              </a:rPr>
              <a:t>Noise Robustness:</a:t>
            </a:r>
            <a:r>
              <a:rPr lang="en-US" dirty="0">
                <a:latin typeface="Arial" panose="020B0604020202020204" pitchFamily="34" charset="0"/>
                <a:cs typeface="Arial" panose="020B0604020202020204" pitchFamily="34" charset="0"/>
              </a:rPr>
              <a:t> The model performs well across Poisson, Gaussian, and motion artifact noise.</a:t>
            </a:r>
          </a:p>
          <a:p>
            <a:pPr marL="0" indent="0" algn="just">
              <a:buNone/>
            </a:pPr>
            <a:r>
              <a:rPr lang="en-US" b="1" dirty="0">
                <a:latin typeface="Arial" panose="020B0604020202020204" pitchFamily="34" charset="0"/>
                <a:cs typeface="Arial" panose="020B0604020202020204" pitchFamily="34" charset="0"/>
              </a:rPr>
              <a:t>Patch-Based Efficiency: </a:t>
            </a:r>
            <a:r>
              <a:rPr lang="en-US" dirty="0">
                <a:latin typeface="Arial" panose="020B0604020202020204" pitchFamily="34" charset="0"/>
                <a:cs typeface="Arial" panose="020B0604020202020204" pitchFamily="34" charset="0"/>
              </a:rPr>
              <a:t>3D patching captures local features effectively with reduced complexity.</a:t>
            </a:r>
          </a:p>
          <a:p>
            <a:pPr marL="0" indent="0" algn="just">
              <a:buNone/>
            </a:pPr>
            <a:r>
              <a:rPr lang="en-US" b="1" dirty="0">
                <a:latin typeface="Arial" panose="020B0604020202020204" pitchFamily="34" charset="0"/>
                <a:cs typeface="Arial" panose="020B0604020202020204" pitchFamily="34" charset="0"/>
              </a:rPr>
              <a:t>Clinical Application: </a:t>
            </a:r>
            <a:r>
              <a:rPr lang="en-US" dirty="0">
                <a:latin typeface="Arial" panose="020B0604020202020204" pitchFamily="34" charset="0"/>
                <a:cs typeface="Arial" panose="020B0604020202020204" pitchFamily="34" charset="0"/>
              </a:rPr>
              <a:t>The results suggest this method could potentially reduce radiation dose in clinical PET imaging while maintaining diagnostic image quality.</a:t>
            </a:r>
          </a:p>
          <a:p>
            <a:pPr marL="0" indent="0" algn="just">
              <a:buNone/>
            </a:pPr>
            <a:r>
              <a:rPr lang="en-US" b="1" dirty="0">
                <a:latin typeface="Arial" panose="020B0604020202020204" pitchFamily="34" charset="0"/>
                <a:cs typeface="Arial" panose="020B0604020202020204" pitchFamily="34" charset="0"/>
              </a:rPr>
              <a:t>Efficient implementation</a:t>
            </a:r>
            <a:r>
              <a:rPr lang="en-US" dirty="0">
                <a:latin typeface="Arial" panose="020B0604020202020204" pitchFamily="34" charset="0"/>
                <a:cs typeface="Arial" panose="020B0604020202020204" pitchFamily="34" charset="0"/>
              </a:rPr>
              <a:t>: The pipeline efficiently handles DICOM data organization, volume construction and the complete denoising workflow.</a:t>
            </a:r>
          </a:p>
          <a:p>
            <a:pPr marL="0" indent="0" algn="just">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2568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539" y="298383"/>
            <a:ext cx="9365381" cy="866274"/>
          </a:xfrm>
        </p:spPr>
        <p:txBody>
          <a:bodyPr>
            <a:normAutofit/>
          </a:bodyPr>
          <a:lstStyle/>
          <a:p>
            <a:r>
              <a:rPr lang="en-US" sz="3600" b="1" dirty="0">
                <a:latin typeface="Arial" panose="020B0604020202020204" pitchFamily="34" charset="0"/>
                <a:cs typeface="Arial" panose="020B0604020202020204" pitchFamily="34" charset="0"/>
              </a:rPr>
              <a:t>Future SCOPE</a:t>
            </a:r>
            <a:endParaRPr lang="en-IN" sz="3600" b="1"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EA2FA27A-5E88-47C3-B025-E22D262DE288}"/>
              </a:ext>
            </a:extLst>
          </p:cNvPr>
          <p:cNvSpPr>
            <a:spLocks noGrp="1" noChangeArrowheads="1"/>
          </p:cNvSpPr>
          <p:nvPr>
            <p:ph idx="1"/>
          </p:nvPr>
        </p:nvSpPr>
        <p:spPr bwMode="auto">
          <a:xfrm>
            <a:off x="1424539" y="1963745"/>
            <a:ext cx="93878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10" name="Content Placeholder 2">
            <a:extLst>
              <a:ext uri="{FF2B5EF4-FFF2-40B4-BE49-F238E27FC236}">
                <a16:creationId xmlns:a16="http://schemas.microsoft.com/office/drawing/2014/main" id="{6E08E6FF-A8A0-46B2-A3B1-6B1939E7B532}"/>
              </a:ext>
            </a:extLst>
          </p:cNvPr>
          <p:cNvSpPr txBox="1">
            <a:spLocks/>
          </p:cNvSpPr>
          <p:nvPr/>
        </p:nvSpPr>
        <p:spPr>
          <a:xfrm>
            <a:off x="1446998" y="1663668"/>
            <a:ext cx="9365381" cy="447043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just">
              <a:buNone/>
            </a:pPr>
            <a:r>
              <a:rPr lang="en-US" b="1" dirty="0">
                <a:latin typeface="Arial" panose="020B0604020202020204" pitchFamily="34" charset="0"/>
                <a:cs typeface="Arial" panose="020B0604020202020204" pitchFamily="34" charset="0"/>
              </a:rPr>
              <a:t>Clinical Implementation and Real-Time Integration: </a:t>
            </a:r>
            <a:r>
              <a:rPr lang="en-US" dirty="0">
                <a:latin typeface="Arial" panose="020B0604020202020204" pitchFamily="34" charset="0"/>
                <a:cs typeface="Arial" panose="020B0604020202020204" pitchFamily="34" charset="0"/>
              </a:rPr>
              <a:t>Enable real-time use in PET scanners for faster, accurate cardiac diagnosis.</a:t>
            </a:r>
          </a:p>
          <a:p>
            <a:pPr marL="0" indent="0" algn="just">
              <a:buNone/>
            </a:pPr>
            <a:r>
              <a:rPr lang="en-US" b="1" dirty="0">
                <a:latin typeface="Arial" panose="020B0604020202020204" pitchFamily="34" charset="0"/>
                <a:cs typeface="Arial" panose="020B0604020202020204" pitchFamily="34" charset="0"/>
              </a:rPr>
              <a:t>Tracer-Specific &amp; Multi-Tracer Models: </a:t>
            </a:r>
            <a:r>
              <a:rPr lang="en-US" dirty="0">
                <a:latin typeface="Arial" panose="020B0604020202020204" pitchFamily="34" charset="0"/>
                <a:cs typeface="Arial" panose="020B0604020202020204" pitchFamily="34" charset="0"/>
              </a:rPr>
              <a:t>Adapt models for different tracers to expand clinical use.</a:t>
            </a:r>
          </a:p>
          <a:p>
            <a:pPr marL="0" indent="0" algn="just">
              <a:buNone/>
            </a:pPr>
            <a:r>
              <a:rPr lang="en-US" b="1" dirty="0">
                <a:latin typeface="Arial" panose="020B0604020202020204" pitchFamily="34" charset="0"/>
                <a:cs typeface="Arial" panose="020B0604020202020204" pitchFamily="34" charset="0"/>
              </a:rPr>
              <a:t>Multi-Modal Integration with CT/MRI: </a:t>
            </a:r>
            <a:r>
              <a:rPr lang="en-US" dirty="0">
                <a:latin typeface="Arial" panose="020B0604020202020204" pitchFamily="34" charset="0"/>
                <a:cs typeface="Arial" panose="020B0604020202020204" pitchFamily="34" charset="0"/>
              </a:rPr>
              <a:t>Fuse PET with CT/MRI for better disease localization.</a:t>
            </a:r>
          </a:p>
          <a:p>
            <a:pPr marL="0" indent="0" algn="just">
              <a:buNone/>
            </a:pPr>
            <a:r>
              <a:rPr lang="en-US" b="1" dirty="0">
                <a:latin typeface="Arial" panose="020B0604020202020204" pitchFamily="34" charset="0"/>
                <a:cs typeface="Arial" panose="020B0604020202020204" pitchFamily="34" charset="0"/>
              </a:rPr>
              <a:t>Hardware Optimization for Edge Devices: </a:t>
            </a:r>
            <a:r>
              <a:rPr lang="en-US" dirty="0">
                <a:latin typeface="Arial" panose="020B0604020202020204" pitchFamily="34" charset="0"/>
                <a:cs typeface="Arial" panose="020B0604020202020204" pitchFamily="34" charset="0"/>
              </a:rPr>
              <a:t>Streamline models for portable PET hardware.</a:t>
            </a:r>
          </a:p>
          <a:p>
            <a:pPr marL="0" indent="0" algn="just">
              <a:buNone/>
            </a:pPr>
            <a:r>
              <a:rPr lang="en-US" b="1" dirty="0">
                <a:latin typeface="Arial" panose="020B0604020202020204" pitchFamily="34" charset="0"/>
                <a:cs typeface="Arial" panose="020B0604020202020204" pitchFamily="34" charset="0"/>
              </a:rPr>
              <a:t>Longitudinal Patient Monitoring: </a:t>
            </a:r>
            <a:r>
              <a:rPr lang="en-US" dirty="0">
                <a:latin typeface="Arial" panose="020B0604020202020204" pitchFamily="34" charset="0"/>
                <a:cs typeface="Arial" panose="020B0604020202020204" pitchFamily="34" charset="0"/>
              </a:rPr>
              <a:t>Ensure consistent quality for tracking disease over time.</a:t>
            </a:r>
          </a:p>
        </p:txBody>
      </p:sp>
    </p:spTree>
    <p:extLst>
      <p:ext uri="{BB962C8B-B14F-4D97-AF65-F5344CB8AC3E}">
        <p14:creationId xmlns:p14="http://schemas.microsoft.com/office/powerpoint/2010/main" val="1247042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4D3F9-5D19-9F7D-09D0-08D2082FE886}"/>
              </a:ext>
            </a:extLst>
          </p:cNvPr>
          <p:cNvSpPr>
            <a:spLocks noGrp="1"/>
          </p:cNvSpPr>
          <p:nvPr>
            <p:ph type="title"/>
          </p:nvPr>
        </p:nvSpPr>
        <p:spPr>
          <a:xfrm>
            <a:off x="1386038" y="396801"/>
            <a:ext cx="9442383" cy="835232"/>
          </a:xfrm>
        </p:spPr>
        <p:txBody>
          <a:bodyPr>
            <a:normAutofit fontScale="90000"/>
          </a:bodyPr>
          <a:lstStyle/>
          <a:p>
            <a:r>
              <a:rPr lang="en-IN" sz="3600" b="1"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FAB01492-DD5B-5465-131B-CB8CDAABCB22}"/>
              </a:ext>
            </a:extLst>
          </p:cNvPr>
          <p:cNvSpPr>
            <a:spLocks noGrp="1"/>
          </p:cNvSpPr>
          <p:nvPr>
            <p:ph idx="1"/>
          </p:nvPr>
        </p:nvSpPr>
        <p:spPr>
          <a:xfrm>
            <a:off x="1318661" y="1443789"/>
            <a:ext cx="9509760" cy="5130265"/>
          </a:xfrm>
        </p:spPr>
        <p:txBody>
          <a:bodyPr>
            <a:normAutofit/>
          </a:bodyPr>
          <a:lstStyle/>
          <a:p>
            <a:pPr algn="just"/>
            <a:r>
              <a:rPr lang="en-IN" dirty="0">
                <a:latin typeface="Arial" panose="020B0604020202020204" pitchFamily="34" charset="0"/>
                <a:cs typeface="Arial" panose="020B0604020202020204" pitchFamily="34" charset="0"/>
              </a:rPr>
              <a:t>[1]  Use of a Tracer-Specific Deep Artificial Neural Net to Denoise Dynamic PET Images- Connor Bevington, Vesna Sossi - IEEE TRANSACTIONS ON MEDICAL IMAGING, VOL. 39, NO. 2, DOI- 10.1109/TMI.2019.2927199, February 2020.</a:t>
            </a:r>
          </a:p>
          <a:p>
            <a:pPr algn="just"/>
            <a:r>
              <a:rPr lang="en-IN" dirty="0">
                <a:latin typeface="Arial" panose="020B0604020202020204" pitchFamily="34" charset="0"/>
                <a:cs typeface="Arial" panose="020B0604020202020204" pitchFamily="34" charset="0"/>
              </a:rPr>
              <a:t>[2] 4D deep image prior: Dynamic PET image denoising using an unsupervised four-dimensional branch convolutional neural network- Fumio Hashimoto, Hiroyuki Ohba, Kibo Ote - Institute of Physics and Engineering in Medicine, DOI- 10.1088/1361-6560/abcd1a, January 2021.</a:t>
            </a:r>
          </a:p>
          <a:p>
            <a:pPr algn="just"/>
            <a:r>
              <a:rPr lang="en-IN" dirty="0">
                <a:latin typeface="Arial" panose="020B0604020202020204" pitchFamily="34" charset="0"/>
                <a:cs typeface="Arial" panose="020B0604020202020204" pitchFamily="34" charset="0"/>
              </a:rPr>
              <a:t>[3] </a:t>
            </a:r>
            <a:r>
              <a:rPr lang="en-US" dirty="0">
                <a:latin typeface="Arial" panose="020B0604020202020204" pitchFamily="34" charset="0"/>
                <a:cs typeface="Arial" panose="020B0604020202020204" pitchFamily="34" charset="0"/>
              </a:rPr>
              <a:t>Y.-J. T. a. C. L. B. Zhou, "Simultaneous Denoising and Motion Estimation for Low-Dose Gated PET Using a Siamese Adversarial Network with Gate-to-Gate Consistency Learning," in Medical Image Computing and Computer-Assisted Intervention – MICCAI 2020, 2020. </a:t>
            </a:r>
          </a:p>
          <a:p>
            <a:pPr algn="just"/>
            <a:r>
              <a:rPr lang="en-IN" dirty="0">
                <a:latin typeface="Arial" panose="020B0604020202020204" pitchFamily="34" charset="0"/>
                <a:cs typeface="Arial" panose="020B0604020202020204" pitchFamily="34" charset="0"/>
              </a:rPr>
              <a:t>[4]   </a:t>
            </a:r>
            <a:r>
              <a:rPr lang="en-US" dirty="0">
                <a:latin typeface="Arial" panose="020B0604020202020204" pitchFamily="34" charset="0"/>
                <a:cs typeface="Arial" panose="020B0604020202020204" pitchFamily="34" charset="0"/>
              </a:rPr>
              <a:t>An Efficient Computational Approach for the Detection of MR Brain Tissues in the Presence of Noise and Intensity Inhomogeneity</a:t>
            </a:r>
            <a:r>
              <a:rPr lang="en-IN" dirty="0">
                <a:latin typeface="Arial" panose="020B0604020202020204" pitchFamily="34" charset="0"/>
                <a:cs typeface="Arial" panose="020B0604020202020204" pitchFamily="34" charset="0"/>
              </a:rPr>
              <a:t>- T. Satya Savithri, G. Sandhya, Giri Babu Kande </a:t>
            </a:r>
            <a:r>
              <a:rPr lang="en-IN"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Journal of Biomimetics, Biomaterials and Biomedical Engineering (Volume 33), DOI- 10.4028/www.scientific.net/JBBBE.33.65, July 2017.  </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8540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0B804B-BB4E-5B12-B700-8C4B864BC0DB}"/>
              </a:ext>
            </a:extLst>
          </p:cNvPr>
          <p:cNvSpPr txBox="1"/>
          <p:nvPr/>
        </p:nvSpPr>
        <p:spPr>
          <a:xfrm>
            <a:off x="2579571" y="2844224"/>
            <a:ext cx="8200724" cy="1169551"/>
          </a:xfrm>
          <a:prstGeom prst="rect">
            <a:avLst/>
          </a:prstGeom>
          <a:noFill/>
        </p:spPr>
        <p:txBody>
          <a:bodyPr wrap="square" rtlCol="0">
            <a:spAutoFit/>
          </a:bodyPr>
          <a:lstStyle/>
          <a:p>
            <a:r>
              <a:rPr lang="en-US" sz="7000" dirty="0">
                <a:latin typeface="Arial" panose="020B0604020202020204" pitchFamily="34" charset="0"/>
                <a:cs typeface="Arial" panose="020B0604020202020204" pitchFamily="34" charset="0"/>
              </a:rPr>
              <a:t>   THANK YOU  </a:t>
            </a:r>
            <a:endParaRPr lang="en-GB" sz="7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7147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24203</TotalTime>
  <Words>2573</Words>
  <Application>Microsoft Office PowerPoint</Application>
  <PresentationFormat>Widescreen</PresentationFormat>
  <Paragraphs>248</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Gill Sans MT</vt:lpstr>
      <vt:lpstr>Times New Roman</vt:lpstr>
      <vt:lpstr>Wingdings</vt:lpstr>
      <vt:lpstr>Parcel</vt:lpstr>
      <vt:lpstr>deep autoencoder - based DENOISING of Dynamic PET SCANS</vt:lpstr>
      <vt:lpstr>TABLE OF CONTENTS</vt:lpstr>
      <vt:lpstr>Introduction</vt:lpstr>
      <vt:lpstr>positron emission tomography(PET) SCAN</vt:lpstr>
      <vt:lpstr>AIM</vt:lpstr>
      <vt:lpstr> OBJECTIVES AND MOTIVATION</vt:lpstr>
      <vt:lpstr>dataset overview</vt:lpstr>
      <vt:lpstr>Block Diagram</vt:lpstr>
      <vt:lpstr>Methodology</vt:lpstr>
      <vt:lpstr>Methodology</vt:lpstr>
      <vt:lpstr>PowerPoint Presentation</vt:lpstr>
      <vt:lpstr>DAE architecture for PET Image denoising</vt:lpstr>
      <vt:lpstr>DAE architecture for PET Image denoising</vt:lpstr>
      <vt:lpstr>DAE architecture for PET Image denoising</vt:lpstr>
      <vt:lpstr>PowerPoint Presentation</vt:lpstr>
      <vt:lpstr>WORKFLOW PROCESS</vt:lpstr>
      <vt:lpstr>WORKFLOW PROCESS</vt:lpstr>
      <vt:lpstr>Noise modeling in pet imaging</vt:lpstr>
      <vt:lpstr>Noise modeling in pet imaging</vt:lpstr>
      <vt:lpstr>RESULTS OF DIFFERENT NOISE TYPES</vt:lpstr>
      <vt:lpstr>RESULTS OF DIFFERENT NOISE TYPES</vt:lpstr>
      <vt:lpstr>RESULTS OF DIFFERENT NOISE TYPES</vt:lpstr>
      <vt:lpstr>RESULTS OF DIFFERENT NOISE TYPES</vt:lpstr>
      <vt:lpstr>RESULTS OF DIFFERENT NOISE TYPES</vt:lpstr>
      <vt:lpstr>RESULTS OF DIFFERENT NOISE TYPES</vt:lpstr>
      <vt:lpstr>DENOSING PET IMAGES</vt:lpstr>
      <vt:lpstr>EVALUATION METRICS</vt:lpstr>
      <vt:lpstr>Noise Image quality metrics before denoising</vt:lpstr>
      <vt:lpstr>Noise Image quality metrics AFTER denoising</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DETECTION  USING MULTIMODAL IMAGE FUSION TECHNIQUE</dc:title>
  <dc:creator>padmaja</dc:creator>
  <cp:lastModifiedBy>NARENDRA</cp:lastModifiedBy>
  <cp:revision>494</cp:revision>
  <dcterms:created xsi:type="dcterms:W3CDTF">2023-12-14T16:17:06Z</dcterms:created>
  <dcterms:modified xsi:type="dcterms:W3CDTF">2025-07-15T06:33:54Z</dcterms:modified>
</cp:coreProperties>
</file>